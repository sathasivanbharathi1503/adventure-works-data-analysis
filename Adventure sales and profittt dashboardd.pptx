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6" r:id="rId11"/>
    <p:sldId id="272" r:id="rId12"/>
    <p:sldId id="269" r:id="rId13"/>
    <p:sldId id="267" r:id="rId14"/>
    <p:sldId id="268" r:id="rId15"/>
    <p:sldId id="273" r:id="rId16"/>
    <p:sldId id="265" r:id="rId17"/>
    <p:sldId id="270" r:id="rId18"/>
    <p:sldId id="271" r:id="rId19"/>
  </p:sldIdLst>
  <p:sldSz cx="15948025" cy="7883525"/>
  <p:notesSz cx="6858000" cy="9144000"/>
  <p:defaultTextStyle>
    <a:defPPr>
      <a:defRPr lang="en-US"/>
    </a:defPPr>
    <a:lvl1pPr marL="0" algn="l" defTabSz="571840" rtl="0" eaLnBrk="1" latinLnBrk="0" hangingPunct="1">
      <a:defRPr sz="2250" kern="1200">
        <a:solidFill>
          <a:schemeClr val="tx1"/>
        </a:solidFill>
        <a:latin typeface="+mn-lt"/>
        <a:ea typeface="+mn-ea"/>
        <a:cs typeface="+mn-cs"/>
      </a:defRPr>
    </a:lvl1pPr>
    <a:lvl2pPr marL="571840" algn="l" defTabSz="571840" rtl="0" eaLnBrk="1" latinLnBrk="0" hangingPunct="1">
      <a:defRPr sz="2250" kern="1200">
        <a:solidFill>
          <a:schemeClr val="tx1"/>
        </a:solidFill>
        <a:latin typeface="+mn-lt"/>
        <a:ea typeface="+mn-ea"/>
        <a:cs typeface="+mn-cs"/>
      </a:defRPr>
    </a:lvl2pPr>
    <a:lvl3pPr marL="1143678" algn="l" defTabSz="571840" rtl="0" eaLnBrk="1" latinLnBrk="0" hangingPunct="1">
      <a:defRPr sz="2250" kern="1200">
        <a:solidFill>
          <a:schemeClr val="tx1"/>
        </a:solidFill>
        <a:latin typeface="+mn-lt"/>
        <a:ea typeface="+mn-ea"/>
        <a:cs typeface="+mn-cs"/>
      </a:defRPr>
    </a:lvl3pPr>
    <a:lvl4pPr marL="1715519" algn="l" defTabSz="571840" rtl="0" eaLnBrk="1" latinLnBrk="0" hangingPunct="1">
      <a:defRPr sz="2250" kern="1200">
        <a:solidFill>
          <a:schemeClr val="tx1"/>
        </a:solidFill>
        <a:latin typeface="+mn-lt"/>
        <a:ea typeface="+mn-ea"/>
        <a:cs typeface="+mn-cs"/>
      </a:defRPr>
    </a:lvl4pPr>
    <a:lvl5pPr marL="2287359" algn="l" defTabSz="571840" rtl="0" eaLnBrk="1" latinLnBrk="0" hangingPunct="1">
      <a:defRPr sz="2250" kern="1200">
        <a:solidFill>
          <a:schemeClr val="tx1"/>
        </a:solidFill>
        <a:latin typeface="+mn-lt"/>
        <a:ea typeface="+mn-ea"/>
        <a:cs typeface="+mn-cs"/>
      </a:defRPr>
    </a:lvl5pPr>
    <a:lvl6pPr marL="2859197" algn="l" defTabSz="571840" rtl="0" eaLnBrk="1" latinLnBrk="0" hangingPunct="1">
      <a:defRPr sz="2250" kern="1200">
        <a:solidFill>
          <a:schemeClr val="tx1"/>
        </a:solidFill>
        <a:latin typeface="+mn-lt"/>
        <a:ea typeface="+mn-ea"/>
        <a:cs typeface="+mn-cs"/>
      </a:defRPr>
    </a:lvl6pPr>
    <a:lvl7pPr marL="3431038" algn="l" defTabSz="571840" rtl="0" eaLnBrk="1" latinLnBrk="0" hangingPunct="1">
      <a:defRPr sz="2250" kern="1200">
        <a:solidFill>
          <a:schemeClr val="tx1"/>
        </a:solidFill>
        <a:latin typeface="+mn-lt"/>
        <a:ea typeface="+mn-ea"/>
        <a:cs typeface="+mn-cs"/>
      </a:defRPr>
    </a:lvl7pPr>
    <a:lvl8pPr marL="4002878" algn="l" defTabSz="571840" rtl="0" eaLnBrk="1" latinLnBrk="0" hangingPunct="1">
      <a:defRPr sz="2250" kern="1200">
        <a:solidFill>
          <a:schemeClr val="tx1"/>
        </a:solidFill>
        <a:latin typeface="+mn-lt"/>
        <a:ea typeface="+mn-ea"/>
        <a:cs typeface="+mn-cs"/>
      </a:defRPr>
    </a:lvl8pPr>
    <a:lvl9pPr marL="4574718" algn="l" defTabSz="571840" rtl="0" eaLnBrk="1" latinLnBrk="0" hangingPunct="1">
      <a:defRPr sz="22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E303F5-9370-4FE4-B07A-FB58640D8D30}" v="2" dt="2026-01-18T12:58:07.7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1" d="100"/>
          <a:sy n="51" d="100"/>
        </p:scale>
        <p:origin x="65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6T17:47:33.562"/>
    </inkml:context>
    <inkml:brush xml:id="br0">
      <inkml:brushProperty name="width" value="0.4" units="cm"/>
      <inkml:brushProperty name="height" value="0.8" units="cm"/>
      <inkml:brushProperty name="color" value="#E6E6E6"/>
      <inkml:brushProperty name="tip" value="rectangle"/>
      <inkml:brushProperty name="rasterOp" value="maskPen"/>
      <inkml:brushProperty name="ignorePressure" value="1"/>
    </inkml:brush>
  </inkml:definitions>
  <inkml:trace contextRef="#ctx0" brushRef="#br0">0 1,'0'1407,"15"-1132,-2-23,-14 121,2 137,12-296,2 47,-15-229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17:47:35.461"/>
    </inkml:context>
    <inkml:brush xml:id="br0">
      <inkml:brushProperty name="width" value="0.4" units="cm"/>
      <inkml:brushProperty name="height" value="0.8" units="cm"/>
      <inkml:brushProperty name="color" value="#E6E6E6"/>
      <inkml:brushProperty name="tip" value="rectangle"/>
      <inkml:brushProperty name="rasterOp" value="maskPen"/>
      <inkml:brushProperty name="ignorePressure" value="1"/>
    </inkml:brush>
  </inkml:definitions>
  <inkml:trace contextRef="#ctx0" brushRef="#br0">27 1 0,'-27'2549'0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388730-AAC9-4801-9ED1-FCC0B2C71F68}" type="datetimeFigureOut">
              <a:rPr lang="en-IN" smtClean="0"/>
              <a:t>19-01-2026</a:t>
            </a:fld>
            <a:endParaRPr lang="en-IN"/>
          </a:p>
        </p:txBody>
      </p:sp>
      <p:sp>
        <p:nvSpPr>
          <p:cNvPr id="4" name="Slide Image Placeholder 3"/>
          <p:cNvSpPr>
            <a:spLocks noGrp="1" noRot="1" noChangeAspect="1"/>
          </p:cNvSpPr>
          <p:nvPr>
            <p:ph type="sldImg" idx="2"/>
          </p:nvPr>
        </p:nvSpPr>
        <p:spPr>
          <a:xfrm>
            <a:off x="307975" y="1143000"/>
            <a:ext cx="62420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DB4FC-F4A6-4DDB-AE5A-DDA3782D5C17}" type="slidenum">
              <a:rPr lang="en-IN" smtClean="0"/>
              <a:t>‹#›</a:t>
            </a:fld>
            <a:endParaRPr lang="en-IN"/>
          </a:p>
        </p:txBody>
      </p:sp>
    </p:spTree>
    <p:extLst>
      <p:ext uri="{BB962C8B-B14F-4D97-AF65-F5344CB8AC3E}">
        <p14:creationId xmlns:p14="http://schemas.microsoft.com/office/powerpoint/2010/main" val="933361116"/>
      </p:ext>
    </p:extLst>
  </p:cSld>
  <p:clrMap bg1="lt1" tx1="dk1" bg2="lt2" tx2="dk2" accent1="accent1" accent2="accent2" accent3="accent3" accent4="accent4" accent5="accent5" accent6="accent6" hlink="hlink" folHlink="folHlink"/>
  <p:notesStyle>
    <a:lvl1pPr marL="0" algn="l" defTabSz="988948" rtl="0" eaLnBrk="1" latinLnBrk="0" hangingPunct="1">
      <a:defRPr sz="1297" kern="1200">
        <a:solidFill>
          <a:schemeClr val="tx1"/>
        </a:solidFill>
        <a:latin typeface="+mn-lt"/>
        <a:ea typeface="+mn-ea"/>
        <a:cs typeface="+mn-cs"/>
      </a:defRPr>
    </a:lvl1pPr>
    <a:lvl2pPr marL="494473" algn="l" defTabSz="988948" rtl="0" eaLnBrk="1" latinLnBrk="0" hangingPunct="1">
      <a:defRPr sz="1297" kern="1200">
        <a:solidFill>
          <a:schemeClr val="tx1"/>
        </a:solidFill>
        <a:latin typeface="+mn-lt"/>
        <a:ea typeface="+mn-ea"/>
        <a:cs typeface="+mn-cs"/>
      </a:defRPr>
    </a:lvl2pPr>
    <a:lvl3pPr marL="988948" algn="l" defTabSz="988948" rtl="0" eaLnBrk="1" latinLnBrk="0" hangingPunct="1">
      <a:defRPr sz="1297" kern="1200">
        <a:solidFill>
          <a:schemeClr val="tx1"/>
        </a:solidFill>
        <a:latin typeface="+mn-lt"/>
        <a:ea typeface="+mn-ea"/>
        <a:cs typeface="+mn-cs"/>
      </a:defRPr>
    </a:lvl3pPr>
    <a:lvl4pPr marL="1483421" algn="l" defTabSz="988948" rtl="0" eaLnBrk="1" latinLnBrk="0" hangingPunct="1">
      <a:defRPr sz="1297" kern="1200">
        <a:solidFill>
          <a:schemeClr val="tx1"/>
        </a:solidFill>
        <a:latin typeface="+mn-lt"/>
        <a:ea typeface="+mn-ea"/>
        <a:cs typeface="+mn-cs"/>
      </a:defRPr>
    </a:lvl4pPr>
    <a:lvl5pPr marL="1977896" algn="l" defTabSz="988948" rtl="0" eaLnBrk="1" latinLnBrk="0" hangingPunct="1">
      <a:defRPr sz="1297" kern="1200">
        <a:solidFill>
          <a:schemeClr val="tx1"/>
        </a:solidFill>
        <a:latin typeface="+mn-lt"/>
        <a:ea typeface="+mn-ea"/>
        <a:cs typeface="+mn-cs"/>
      </a:defRPr>
    </a:lvl5pPr>
    <a:lvl6pPr marL="2472369" algn="l" defTabSz="988948" rtl="0" eaLnBrk="1" latinLnBrk="0" hangingPunct="1">
      <a:defRPr sz="1297" kern="1200">
        <a:solidFill>
          <a:schemeClr val="tx1"/>
        </a:solidFill>
        <a:latin typeface="+mn-lt"/>
        <a:ea typeface="+mn-ea"/>
        <a:cs typeface="+mn-cs"/>
      </a:defRPr>
    </a:lvl6pPr>
    <a:lvl7pPr marL="2966843" algn="l" defTabSz="988948" rtl="0" eaLnBrk="1" latinLnBrk="0" hangingPunct="1">
      <a:defRPr sz="1297" kern="1200">
        <a:solidFill>
          <a:schemeClr val="tx1"/>
        </a:solidFill>
        <a:latin typeface="+mn-lt"/>
        <a:ea typeface="+mn-ea"/>
        <a:cs typeface="+mn-cs"/>
      </a:defRPr>
    </a:lvl7pPr>
    <a:lvl8pPr marL="3461317" algn="l" defTabSz="988948" rtl="0" eaLnBrk="1" latinLnBrk="0" hangingPunct="1">
      <a:defRPr sz="1297" kern="1200">
        <a:solidFill>
          <a:schemeClr val="tx1"/>
        </a:solidFill>
        <a:latin typeface="+mn-lt"/>
        <a:ea typeface="+mn-ea"/>
        <a:cs typeface="+mn-cs"/>
      </a:defRPr>
    </a:lvl8pPr>
    <a:lvl9pPr marL="3955791" algn="l" defTabSz="988948" rtl="0" eaLnBrk="1" latinLnBrk="0" hangingPunct="1">
      <a:defRPr sz="129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7975" y="1143000"/>
            <a:ext cx="624205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7DB4FC-F4A6-4DDB-AE5A-DDA3782D5C17}" type="slidenum">
              <a:rPr lang="en-IN" smtClean="0"/>
              <a:t>6</a:t>
            </a:fld>
            <a:endParaRPr lang="en-IN"/>
          </a:p>
        </p:txBody>
      </p:sp>
    </p:spTree>
    <p:extLst>
      <p:ext uri="{BB962C8B-B14F-4D97-AF65-F5344CB8AC3E}">
        <p14:creationId xmlns:p14="http://schemas.microsoft.com/office/powerpoint/2010/main" val="20414322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ctrTitle"/>
          </p:nvPr>
        </p:nvSpPr>
        <p:spPr>
          <a:xfrm>
            <a:off x="5183108" y="2257998"/>
            <a:ext cx="9415150" cy="2783563"/>
          </a:xfrm>
        </p:spPr>
        <p:txBody>
          <a:bodyPr anchor="b">
            <a:normAutofit/>
          </a:bodyPr>
          <a:lstStyle>
            <a:lvl1pPr algn="r">
              <a:defRPr sz="4920">
                <a:effectLst/>
              </a:defRPr>
            </a:lvl1pPr>
          </a:lstStyle>
          <a:p>
            <a:r>
              <a:rPr lang="en-US"/>
              <a:t>Click to edit Master title style</a:t>
            </a:r>
            <a:endParaRPr lang="en-US" dirty="0"/>
          </a:p>
        </p:txBody>
      </p:sp>
      <p:sp>
        <p:nvSpPr>
          <p:cNvPr id="3" name="Subtitle 2"/>
          <p:cNvSpPr>
            <a:spLocks noGrp="1"/>
          </p:cNvSpPr>
          <p:nvPr>
            <p:ph type="subTitle" idx="1"/>
          </p:nvPr>
        </p:nvSpPr>
        <p:spPr>
          <a:xfrm>
            <a:off x="5183108" y="5041564"/>
            <a:ext cx="9415150" cy="1615635"/>
          </a:xfrm>
        </p:spPr>
        <p:txBody>
          <a:bodyPr anchor="t">
            <a:normAutofit/>
          </a:bodyPr>
          <a:lstStyle>
            <a:lvl1pPr marL="0" indent="0" algn="r">
              <a:buNone/>
              <a:defRPr sz="1846" cap="all">
                <a:solidFill>
                  <a:schemeClr val="tx1"/>
                </a:solidFill>
              </a:defRPr>
            </a:lvl1pPr>
            <a:lvl2pPr marL="468703" indent="0" algn="ctr">
              <a:buNone/>
              <a:defRPr>
                <a:solidFill>
                  <a:schemeClr val="tx1">
                    <a:tint val="75000"/>
                  </a:schemeClr>
                </a:solidFill>
              </a:defRPr>
            </a:lvl2pPr>
            <a:lvl3pPr marL="937408" indent="0" algn="ctr">
              <a:buNone/>
              <a:defRPr>
                <a:solidFill>
                  <a:schemeClr val="tx1">
                    <a:tint val="75000"/>
                  </a:schemeClr>
                </a:solidFill>
              </a:defRPr>
            </a:lvl3pPr>
            <a:lvl4pPr marL="1406110" indent="0" algn="ctr">
              <a:buNone/>
              <a:defRPr>
                <a:solidFill>
                  <a:schemeClr val="tx1">
                    <a:tint val="75000"/>
                  </a:schemeClr>
                </a:solidFill>
              </a:defRPr>
            </a:lvl4pPr>
            <a:lvl5pPr marL="1874814" indent="0" algn="ctr">
              <a:buNone/>
              <a:defRPr>
                <a:solidFill>
                  <a:schemeClr val="tx1">
                    <a:tint val="75000"/>
                  </a:schemeClr>
                </a:solidFill>
              </a:defRPr>
            </a:lvl5pPr>
            <a:lvl6pPr marL="2343518" indent="0" algn="ctr">
              <a:buNone/>
              <a:defRPr>
                <a:solidFill>
                  <a:schemeClr val="tx1">
                    <a:tint val="75000"/>
                  </a:schemeClr>
                </a:solidFill>
              </a:defRPr>
            </a:lvl6pPr>
            <a:lvl7pPr marL="2812222" indent="0" algn="ctr">
              <a:buNone/>
              <a:defRPr>
                <a:solidFill>
                  <a:schemeClr val="tx1">
                    <a:tint val="75000"/>
                  </a:schemeClr>
                </a:solidFill>
              </a:defRPr>
            </a:lvl7pPr>
            <a:lvl8pPr marL="3280926" indent="0" algn="ctr">
              <a:buNone/>
              <a:defRPr>
                <a:solidFill>
                  <a:schemeClr val="tx1">
                    <a:tint val="75000"/>
                  </a:schemeClr>
                </a:solidFill>
              </a:defRPr>
            </a:lvl8pPr>
            <a:lvl9pPr marL="374962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11684437" y="6748444"/>
            <a:ext cx="2093179" cy="434324"/>
          </a:xfrm>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a:xfrm>
            <a:off x="5183107" y="6748444"/>
            <a:ext cx="6401654" cy="434324"/>
          </a:xfrm>
        </p:spPr>
        <p:txBody>
          <a:bodyPr/>
          <a:lstStyle/>
          <a:p>
            <a:endParaRPr lang="en-US" dirty="0"/>
          </a:p>
        </p:txBody>
      </p:sp>
      <p:sp>
        <p:nvSpPr>
          <p:cNvPr id="6" name="Slide Number Placeholder 5"/>
          <p:cNvSpPr>
            <a:spLocks noGrp="1"/>
          </p:cNvSpPr>
          <p:nvPr>
            <p:ph type="sldNum" sz="quarter" idx="12"/>
          </p:nvPr>
        </p:nvSpPr>
        <p:spPr>
          <a:xfrm>
            <a:off x="13877292" y="6748444"/>
            <a:ext cx="720967" cy="434324"/>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title"/>
          </p:nvPr>
        </p:nvSpPr>
        <p:spPr>
          <a:xfrm>
            <a:off x="897079" y="3803337"/>
            <a:ext cx="13252645" cy="1688440"/>
          </a:xfrm>
        </p:spPr>
        <p:txBody>
          <a:bodyPr anchor="b"/>
          <a:lstStyle>
            <a:lvl1pPr algn="l">
              <a:defRPr sz="4100" b="0" cap="all"/>
            </a:lvl1pPr>
          </a:lstStyle>
          <a:p>
            <a:r>
              <a:rPr lang="en-US"/>
              <a:t>Click to edit Master title style</a:t>
            </a:r>
            <a:endParaRPr lang="en-US" dirty="0"/>
          </a:p>
        </p:txBody>
      </p:sp>
      <p:sp>
        <p:nvSpPr>
          <p:cNvPr id="3" name="Text Placeholder 2"/>
          <p:cNvSpPr>
            <a:spLocks noGrp="1"/>
          </p:cNvSpPr>
          <p:nvPr>
            <p:ph type="body" idx="1"/>
          </p:nvPr>
        </p:nvSpPr>
        <p:spPr>
          <a:xfrm>
            <a:off x="897075" y="5491776"/>
            <a:ext cx="13252646" cy="989062"/>
          </a:xfrm>
        </p:spPr>
        <p:txBody>
          <a:bodyPr anchor="t">
            <a:normAutofit/>
          </a:bodyPr>
          <a:lstStyle>
            <a:lvl1pPr marL="0" indent="0" algn="l">
              <a:buNone/>
              <a:defRPr sz="2051" cap="all">
                <a:solidFill>
                  <a:schemeClr val="tx1"/>
                </a:solidFill>
              </a:defRPr>
            </a:lvl1pPr>
            <a:lvl2pPr marL="468703" indent="0">
              <a:buNone/>
              <a:defRPr sz="1846">
                <a:solidFill>
                  <a:schemeClr val="tx1">
                    <a:tint val="75000"/>
                  </a:schemeClr>
                </a:solidFill>
              </a:defRPr>
            </a:lvl2pPr>
            <a:lvl3pPr marL="937408" indent="0">
              <a:buNone/>
              <a:defRPr sz="1640">
                <a:solidFill>
                  <a:schemeClr val="tx1">
                    <a:tint val="75000"/>
                  </a:schemeClr>
                </a:solidFill>
              </a:defRPr>
            </a:lvl3pPr>
            <a:lvl4pPr marL="1406110" indent="0">
              <a:buNone/>
              <a:defRPr sz="1435">
                <a:solidFill>
                  <a:schemeClr val="tx1">
                    <a:tint val="75000"/>
                  </a:schemeClr>
                </a:solidFill>
              </a:defRPr>
            </a:lvl4pPr>
            <a:lvl5pPr marL="1874814" indent="0">
              <a:buNone/>
              <a:defRPr sz="1435">
                <a:solidFill>
                  <a:schemeClr val="tx1">
                    <a:tint val="75000"/>
                  </a:schemeClr>
                </a:solidFill>
              </a:defRPr>
            </a:lvl5pPr>
            <a:lvl6pPr marL="2343518" indent="0">
              <a:buNone/>
              <a:defRPr sz="1435">
                <a:solidFill>
                  <a:schemeClr val="tx1">
                    <a:tint val="75000"/>
                  </a:schemeClr>
                </a:solidFill>
              </a:defRPr>
            </a:lvl6pPr>
            <a:lvl7pPr marL="2812222" indent="0">
              <a:buNone/>
              <a:defRPr sz="1435">
                <a:solidFill>
                  <a:schemeClr val="tx1">
                    <a:tint val="75000"/>
                  </a:schemeClr>
                </a:solidFill>
              </a:defRPr>
            </a:lvl7pPr>
            <a:lvl8pPr marL="3280926" indent="0">
              <a:buNone/>
              <a:defRPr sz="1435">
                <a:solidFill>
                  <a:schemeClr val="tx1">
                    <a:tint val="75000"/>
                  </a:schemeClr>
                </a:solidFill>
              </a:defRPr>
            </a:lvl8pPr>
            <a:lvl9pPr marL="3749629" indent="0">
              <a:buNone/>
              <a:defRPr sz="143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97081" y="2462387"/>
            <a:ext cx="6534262" cy="419481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15464" y="2462386"/>
            <a:ext cx="6534258" cy="419481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73632" y="2549982"/>
            <a:ext cx="6159786" cy="662434"/>
          </a:xfrm>
        </p:spPr>
        <p:txBody>
          <a:bodyPr anchor="b">
            <a:noAutofit/>
          </a:bodyPr>
          <a:lstStyle>
            <a:lvl1pPr marL="0" indent="0">
              <a:buNone/>
              <a:defRPr sz="2871" b="0"/>
            </a:lvl1pPr>
            <a:lvl2pPr marL="468703" indent="0">
              <a:buNone/>
              <a:defRPr sz="2051" b="1"/>
            </a:lvl2pPr>
            <a:lvl3pPr marL="937408" indent="0">
              <a:buNone/>
              <a:defRPr sz="1846" b="1"/>
            </a:lvl3pPr>
            <a:lvl4pPr marL="1406110" indent="0">
              <a:buNone/>
              <a:defRPr sz="1640" b="1"/>
            </a:lvl4pPr>
            <a:lvl5pPr marL="1874814" indent="0">
              <a:buNone/>
              <a:defRPr sz="1640" b="1"/>
            </a:lvl5pPr>
            <a:lvl6pPr marL="2343518" indent="0">
              <a:buNone/>
              <a:defRPr sz="1640" b="1"/>
            </a:lvl6pPr>
            <a:lvl7pPr marL="2812222" indent="0">
              <a:buNone/>
              <a:defRPr sz="1640" b="1"/>
            </a:lvl7pPr>
            <a:lvl8pPr marL="3280926" indent="0">
              <a:buNone/>
              <a:defRPr sz="1640" b="1"/>
            </a:lvl8pPr>
            <a:lvl9pPr marL="3749629" indent="0">
              <a:buNone/>
              <a:defRPr sz="1640" b="1"/>
            </a:lvl9pPr>
          </a:lstStyle>
          <a:p>
            <a:pPr lvl="0"/>
            <a:r>
              <a:rPr lang="en-US"/>
              <a:t>Click to edit Master text styles</a:t>
            </a:r>
          </a:p>
        </p:txBody>
      </p:sp>
      <p:sp>
        <p:nvSpPr>
          <p:cNvPr id="4" name="Content Placeholder 3"/>
          <p:cNvSpPr>
            <a:spLocks noGrp="1"/>
          </p:cNvSpPr>
          <p:nvPr>
            <p:ph sz="half" idx="2"/>
          </p:nvPr>
        </p:nvSpPr>
        <p:spPr>
          <a:xfrm>
            <a:off x="897080" y="3299403"/>
            <a:ext cx="6536340" cy="335779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974018" y="2559714"/>
            <a:ext cx="6177783" cy="662434"/>
          </a:xfrm>
        </p:spPr>
        <p:txBody>
          <a:bodyPr anchor="b">
            <a:noAutofit/>
          </a:bodyPr>
          <a:lstStyle>
            <a:lvl1pPr marL="0" indent="0">
              <a:buNone/>
              <a:defRPr sz="2871" b="0"/>
            </a:lvl1pPr>
            <a:lvl2pPr marL="468703" indent="0">
              <a:buNone/>
              <a:defRPr sz="2051" b="1"/>
            </a:lvl2pPr>
            <a:lvl3pPr marL="937408" indent="0">
              <a:buNone/>
              <a:defRPr sz="1846" b="1"/>
            </a:lvl3pPr>
            <a:lvl4pPr marL="1406110" indent="0">
              <a:buNone/>
              <a:defRPr sz="1640" b="1"/>
            </a:lvl4pPr>
            <a:lvl5pPr marL="1874814" indent="0">
              <a:buNone/>
              <a:defRPr sz="1640" b="1"/>
            </a:lvl5pPr>
            <a:lvl6pPr marL="2343518" indent="0">
              <a:buNone/>
              <a:defRPr sz="1640" b="1"/>
            </a:lvl6pPr>
            <a:lvl7pPr marL="2812222" indent="0">
              <a:buNone/>
              <a:defRPr sz="1640" b="1"/>
            </a:lvl7pPr>
            <a:lvl8pPr marL="3280926" indent="0">
              <a:buNone/>
              <a:defRPr sz="1640" b="1"/>
            </a:lvl8pPr>
            <a:lvl9pPr marL="3749629" indent="0">
              <a:buNone/>
              <a:defRPr sz="1640" b="1"/>
            </a:lvl9pPr>
          </a:lstStyle>
          <a:p>
            <a:pPr lvl="0"/>
            <a:r>
              <a:rPr lang="en-US"/>
              <a:t>Click to edit Master text styles</a:t>
            </a:r>
          </a:p>
        </p:txBody>
      </p:sp>
      <p:sp>
        <p:nvSpPr>
          <p:cNvPr id="6" name="Content Placeholder 5"/>
          <p:cNvSpPr>
            <a:spLocks noGrp="1"/>
          </p:cNvSpPr>
          <p:nvPr>
            <p:ph sz="quarter" idx="4"/>
          </p:nvPr>
        </p:nvSpPr>
        <p:spPr>
          <a:xfrm>
            <a:off x="7617541" y="3299403"/>
            <a:ext cx="6534262" cy="335779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title"/>
          </p:nvPr>
        </p:nvSpPr>
        <p:spPr>
          <a:xfrm>
            <a:off x="897078" y="2384524"/>
            <a:ext cx="4814866" cy="1576705"/>
          </a:xfrm>
        </p:spPr>
        <p:txBody>
          <a:bodyPr anchor="b">
            <a:normAutofit/>
          </a:bodyPr>
          <a:lstStyle>
            <a:lvl1pPr algn="l">
              <a:defRPr sz="2461" b="0"/>
            </a:lvl1pPr>
          </a:lstStyle>
          <a:p>
            <a:r>
              <a:rPr lang="en-US"/>
              <a:t>Click to edit Master title style</a:t>
            </a:r>
            <a:endParaRPr lang="en-US" dirty="0"/>
          </a:p>
        </p:txBody>
      </p:sp>
      <p:sp>
        <p:nvSpPr>
          <p:cNvPr id="3" name="Content Placeholder 2"/>
          <p:cNvSpPr>
            <a:spLocks noGrp="1"/>
          </p:cNvSpPr>
          <p:nvPr>
            <p:ph idx="1"/>
          </p:nvPr>
        </p:nvSpPr>
        <p:spPr>
          <a:xfrm>
            <a:off x="6080188" y="700759"/>
            <a:ext cx="8069536" cy="5956441"/>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97078" y="3961227"/>
            <a:ext cx="4814866" cy="2102274"/>
          </a:xfrm>
        </p:spPr>
        <p:txBody>
          <a:bodyPr anchor="t">
            <a:normAutofit/>
          </a:bodyPr>
          <a:lstStyle>
            <a:lvl1pPr marL="0" indent="0">
              <a:buNone/>
              <a:defRPr sz="1640"/>
            </a:lvl1pPr>
            <a:lvl2pPr marL="468703" indent="0">
              <a:buNone/>
              <a:defRPr sz="1231"/>
            </a:lvl2pPr>
            <a:lvl3pPr marL="937408" indent="0">
              <a:buNone/>
              <a:defRPr sz="1026"/>
            </a:lvl3pPr>
            <a:lvl4pPr marL="1406110" indent="0">
              <a:buNone/>
              <a:defRPr sz="923"/>
            </a:lvl4pPr>
            <a:lvl5pPr marL="1874814" indent="0">
              <a:buNone/>
              <a:defRPr sz="923"/>
            </a:lvl5pPr>
            <a:lvl6pPr marL="2343518" indent="0">
              <a:buNone/>
              <a:defRPr sz="923"/>
            </a:lvl6pPr>
            <a:lvl7pPr marL="2812222" indent="0">
              <a:buNone/>
              <a:defRPr sz="923"/>
            </a:lvl7pPr>
            <a:lvl8pPr marL="3280926" indent="0">
              <a:buNone/>
              <a:defRPr sz="923"/>
            </a:lvl8pPr>
            <a:lvl9pPr marL="3749629" indent="0">
              <a:buNone/>
              <a:defRPr sz="923"/>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title"/>
          </p:nvPr>
        </p:nvSpPr>
        <p:spPr>
          <a:xfrm>
            <a:off x="897077" y="1839489"/>
            <a:ext cx="8063815" cy="1576705"/>
          </a:xfrm>
        </p:spPr>
        <p:txBody>
          <a:bodyPr anchor="b">
            <a:normAutofit/>
          </a:bodyPr>
          <a:lstStyle>
            <a:lvl1pPr algn="l">
              <a:defRPr sz="2871"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57969" y="1051137"/>
            <a:ext cx="4291753" cy="5255683"/>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40"/>
            </a:lvl1pPr>
            <a:lvl2pPr marL="468703" indent="0">
              <a:buNone/>
              <a:defRPr sz="1640"/>
            </a:lvl2pPr>
            <a:lvl3pPr marL="937408" indent="0">
              <a:buNone/>
              <a:defRPr sz="1640"/>
            </a:lvl3pPr>
            <a:lvl4pPr marL="1406110" indent="0">
              <a:buNone/>
              <a:defRPr sz="1640"/>
            </a:lvl4pPr>
            <a:lvl5pPr marL="1874814" indent="0">
              <a:buNone/>
              <a:defRPr sz="1640"/>
            </a:lvl5pPr>
            <a:lvl6pPr marL="2343518" indent="0">
              <a:buNone/>
              <a:defRPr sz="1640"/>
            </a:lvl6pPr>
            <a:lvl7pPr marL="2812222" indent="0">
              <a:buNone/>
              <a:defRPr sz="1640"/>
            </a:lvl7pPr>
            <a:lvl8pPr marL="3280926" indent="0">
              <a:buNone/>
              <a:defRPr sz="1640"/>
            </a:lvl8pPr>
            <a:lvl9pPr marL="3749629" indent="0">
              <a:buNone/>
              <a:defRPr sz="1640"/>
            </a:lvl9pPr>
          </a:lstStyle>
          <a:p>
            <a:r>
              <a:rPr lang="en-US"/>
              <a:t>Click icon to add picture</a:t>
            </a:r>
            <a:endParaRPr lang="en-US" dirty="0"/>
          </a:p>
        </p:txBody>
      </p:sp>
      <p:sp>
        <p:nvSpPr>
          <p:cNvPr id="4" name="Text Placeholder 3"/>
          <p:cNvSpPr>
            <a:spLocks noGrp="1"/>
          </p:cNvSpPr>
          <p:nvPr>
            <p:ph type="body" sz="half" idx="2"/>
          </p:nvPr>
        </p:nvSpPr>
        <p:spPr>
          <a:xfrm>
            <a:off x="897077" y="3416194"/>
            <a:ext cx="8063815" cy="2102274"/>
          </a:xfrm>
        </p:spPr>
        <p:txBody>
          <a:bodyPr anchor="t">
            <a:normAutofit/>
          </a:bodyPr>
          <a:lstStyle>
            <a:lvl1pPr marL="0" indent="0">
              <a:buNone/>
              <a:defRPr sz="1846"/>
            </a:lvl1pPr>
            <a:lvl2pPr marL="468703" indent="0">
              <a:buNone/>
              <a:defRPr sz="1231"/>
            </a:lvl2pPr>
            <a:lvl3pPr marL="937408" indent="0">
              <a:buNone/>
              <a:defRPr sz="1026"/>
            </a:lvl3pPr>
            <a:lvl4pPr marL="1406110" indent="0">
              <a:buNone/>
              <a:defRPr sz="923"/>
            </a:lvl4pPr>
            <a:lvl5pPr marL="1874814" indent="0">
              <a:buNone/>
              <a:defRPr sz="923"/>
            </a:lvl5pPr>
            <a:lvl6pPr marL="2343518" indent="0">
              <a:buNone/>
              <a:defRPr sz="923"/>
            </a:lvl6pPr>
            <a:lvl7pPr marL="2812222" indent="0">
              <a:buNone/>
              <a:defRPr sz="923"/>
            </a:lvl7pPr>
            <a:lvl8pPr marL="3280926" indent="0">
              <a:buNone/>
              <a:defRPr sz="923"/>
            </a:lvl8pPr>
            <a:lvl9pPr marL="3749629" indent="0">
              <a:buNone/>
              <a:defRPr sz="923"/>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title"/>
          </p:nvPr>
        </p:nvSpPr>
        <p:spPr>
          <a:xfrm>
            <a:off x="897079" y="5440604"/>
            <a:ext cx="13252645" cy="651487"/>
          </a:xfrm>
        </p:spPr>
        <p:txBody>
          <a:bodyPr anchor="b">
            <a:normAutofit/>
          </a:bodyPr>
          <a:lstStyle>
            <a:lvl1pPr algn="l">
              <a:defRPr sz="2461"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94153" y="1071497"/>
            <a:ext cx="11458493" cy="3638258"/>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40"/>
            </a:lvl1pPr>
            <a:lvl2pPr marL="468703" indent="0">
              <a:buNone/>
              <a:defRPr sz="1640"/>
            </a:lvl2pPr>
            <a:lvl3pPr marL="937408" indent="0">
              <a:buNone/>
              <a:defRPr sz="1640"/>
            </a:lvl3pPr>
            <a:lvl4pPr marL="1406110" indent="0">
              <a:buNone/>
              <a:defRPr sz="1640"/>
            </a:lvl4pPr>
            <a:lvl5pPr marL="1874814" indent="0">
              <a:buNone/>
              <a:defRPr sz="1640"/>
            </a:lvl5pPr>
            <a:lvl6pPr marL="2343518" indent="0">
              <a:buNone/>
              <a:defRPr sz="1640"/>
            </a:lvl6pPr>
            <a:lvl7pPr marL="2812222" indent="0">
              <a:buNone/>
              <a:defRPr sz="1640"/>
            </a:lvl7pPr>
            <a:lvl8pPr marL="3280926" indent="0">
              <a:buNone/>
              <a:defRPr sz="1640"/>
            </a:lvl8pPr>
            <a:lvl9pPr marL="3749629" indent="0">
              <a:buNone/>
              <a:defRPr sz="1640"/>
            </a:lvl9pPr>
          </a:lstStyle>
          <a:p>
            <a:r>
              <a:rPr lang="en-US"/>
              <a:t>Click icon to add picture</a:t>
            </a:r>
            <a:endParaRPr lang="en-US" dirty="0"/>
          </a:p>
        </p:txBody>
      </p:sp>
      <p:sp>
        <p:nvSpPr>
          <p:cNvPr id="4" name="Text Placeholder 3"/>
          <p:cNvSpPr>
            <a:spLocks noGrp="1"/>
          </p:cNvSpPr>
          <p:nvPr>
            <p:ph type="body" sz="half" idx="2"/>
          </p:nvPr>
        </p:nvSpPr>
        <p:spPr>
          <a:xfrm>
            <a:off x="897079" y="6092091"/>
            <a:ext cx="13252645" cy="567540"/>
          </a:xfrm>
        </p:spPr>
        <p:txBody>
          <a:bodyPr anchor="t">
            <a:normAutofit/>
          </a:bodyPr>
          <a:lstStyle>
            <a:lvl1pPr marL="0" indent="0">
              <a:buNone/>
              <a:defRPr sz="1435"/>
            </a:lvl1pPr>
            <a:lvl2pPr marL="468703" indent="0">
              <a:buNone/>
              <a:defRPr sz="1231"/>
            </a:lvl2pPr>
            <a:lvl3pPr marL="937408" indent="0">
              <a:buNone/>
              <a:defRPr sz="1026"/>
            </a:lvl3pPr>
            <a:lvl4pPr marL="1406110" indent="0">
              <a:buNone/>
              <a:defRPr sz="923"/>
            </a:lvl4pPr>
            <a:lvl5pPr marL="1874814" indent="0">
              <a:buNone/>
              <a:defRPr sz="923"/>
            </a:lvl5pPr>
            <a:lvl6pPr marL="2343518" indent="0">
              <a:buNone/>
              <a:defRPr sz="923"/>
            </a:lvl6pPr>
            <a:lvl7pPr marL="2812222" indent="0">
              <a:buNone/>
              <a:defRPr sz="923"/>
            </a:lvl7pPr>
            <a:lvl8pPr marL="3280926" indent="0">
              <a:buNone/>
              <a:defRPr sz="923"/>
            </a:lvl8pPr>
            <a:lvl9pPr marL="3749629" indent="0">
              <a:buNone/>
              <a:defRPr sz="923"/>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title"/>
          </p:nvPr>
        </p:nvSpPr>
        <p:spPr>
          <a:xfrm>
            <a:off x="897080" y="700760"/>
            <a:ext cx="13252645" cy="3591382"/>
          </a:xfrm>
        </p:spPr>
        <p:txBody>
          <a:bodyPr anchor="ctr">
            <a:normAutofit/>
          </a:bodyPr>
          <a:lstStyle>
            <a:lvl1pPr algn="l">
              <a:defRPr sz="3281" b="0" cap="none"/>
            </a:lvl1pPr>
          </a:lstStyle>
          <a:p>
            <a:r>
              <a:rPr lang="en-US"/>
              <a:t>Click to edit Master title style</a:t>
            </a:r>
            <a:endParaRPr lang="en-US" dirty="0"/>
          </a:p>
        </p:txBody>
      </p:sp>
      <p:sp>
        <p:nvSpPr>
          <p:cNvPr id="3" name="Text Placeholder 2"/>
          <p:cNvSpPr>
            <a:spLocks noGrp="1"/>
          </p:cNvSpPr>
          <p:nvPr>
            <p:ph type="body" idx="1"/>
          </p:nvPr>
        </p:nvSpPr>
        <p:spPr>
          <a:xfrm>
            <a:off x="897076" y="4992899"/>
            <a:ext cx="13252646" cy="1664300"/>
          </a:xfrm>
        </p:spPr>
        <p:txBody>
          <a:bodyPr anchor="ctr">
            <a:normAutofit/>
          </a:bodyPr>
          <a:lstStyle>
            <a:lvl1pPr marL="0" indent="0" algn="l">
              <a:buNone/>
              <a:defRPr sz="2051">
                <a:solidFill>
                  <a:schemeClr val="tx1"/>
                </a:solidFill>
              </a:defRPr>
            </a:lvl1pPr>
            <a:lvl2pPr marL="468703" indent="0">
              <a:buNone/>
              <a:defRPr sz="1846">
                <a:solidFill>
                  <a:schemeClr val="tx1">
                    <a:tint val="75000"/>
                  </a:schemeClr>
                </a:solidFill>
              </a:defRPr>
            </a:lvl2pPr>
            <a:lvl3pPr marL="937408" indent="0">
              <a:buNone/>
              <a:defRPr sz="1640">
                <a:solidFill>
                  <a:schemeClr val="tx1">
                    <a:tint val="75000"/>
                  </a:schemeClr>
                </a:solidFill>
              </a:defRPr>
            </a:lvl3pPr>
            <a:lvl4pPr marL="1406110" indent="0">
              <a:buNone/>
              <a:defRPr sz="1435">
                <a:solidFill>
                  <a:schemeClr val="tx1">
                    <a:tint val="75000"/>
                  </a:schemeClr>
                </a:solidFill>
              </a:defRPr>
            </a:lvl4pPr>
            <a:lvl5pPr marL="1874814" indent="0">
              <a:buNone/>
              <a:defRPr sz="1435">
                <a:solidFill>
                  <a:schemeClr val="tx1">
                    <a:tint val="75000"/>
                  </a:schemeClr>
                </a:solidFill>
              </a:defRPr>
            </a:lvl5pPr>
            <a:lvl6pPr marL="2343518" indent="0">
              <a:buNone/>
              <a:defRPr sz="1435">
                <a:solidFill>
                  <a:schemeClr val="tx1">
                    <a:tint val="75000"/>
                  </a:schemeClr>
                </a:solidFill>
              </a:defRPr>
            </a:lvl6pPr>
            <a:lvl7pPr marL="2812222" indent="0">
              <a:buNone/>
              <a:defRPr sz="1435">
                <a:solidFill>
                  <a:schemeClr val="tx1">
                    <a:tint val="75000"/>
                  </a:schemeClr>
                </a:solidFill>
              </a:defRPr>
            </a:lvl7pPr>
            <a:lvl8pPr marL="3280926" indent="0">
              <a:buNone/>
              <a:defRPr sz="1435">
                <a:solidFill>
                  <a:schemeClr val="tx1">
                    <a:tint val="75000"/>
                  </a:schemeClr>
                </a:solidFill>
              </a:defRPr>
            </a:lvl8pPr>
            <a:lvl9pPr marL="3749629" indent="0">
              <a:buNone/>
              <a:defRPr sz="143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15" name="TextBox 14"/>
          <p:cNvSpPr txBox="1"/>
          <p:nvPr/>
        </p:nvSpPr>
        <p:spPr>
          <a:xfrm>
            <a:off x="13391878" y="3153411"/>
            <a:ext cx="797401" cy="672221"/>
          </a:xfrm>
          <a:prstGeom prst="rect">
            <a:avLst/>
          </a:prstGeom>
        </p:spPr>
        <p:txBody>
          <a:bodyPr vert="horz" lIns="93735" tIns="46867" rIns="93735" bIns="46867"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201" dirty="0">
                <a:solidFill>
                  <a:schemeClr val="tx1"/>
                </a:solidFill>
                <a:effectLst/>
              </a:rPr>
              <a:t>”</a:t>
            </a:r>
          </a:p>
        </p:txBody>
      </p:sp>
      <p:sp>
        <p:nvSpPr>
          <p:cNvPr id="11" name="TextBox 10"/>
          <p:cNvSpPr txBox="1"/>
          <p:nvPr/>
        </p:nvSpPr>
        <p:spPr>
          <a:xfrm>
            <a:off x="638699" y="946458"/>
            <a:ext cx="797401" cy="672221"/>
          </a:xfrm>
          <a:prstGeom prst="rect">
            <a:avLst/>
          </a:prstGeom>
        </p:spPr>
        <p:txBody>
          <a:bodyPr vert="horz" lIns="93735" tIns="46867" rIns="93735" bIns="46867"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201" dirty="0">
                <a:solidFill>
                  <a:schemeClr val="tx1"/>
                </a:solidFill>
                <a:effectLst/>
              </a:rPr>
              <a:t>“</a:t>
            </a:r>
          </a:p>
        </p:txBody>
      </p:sp>
      <p:sp>
        <p:nvSpPr>
          <p:cNvPr id="2" name="Title 1"/>
          <p:cNvSpPr>
            <a:spLocks noGrp="1"/>
          </p:cNvSpPr>
          <p:nvPr>
            <p:ph type="title"/>
          </p:nvPr>
        </p:nvSpPr>
        <p:spPr>
          <a:xfrm>
            <a:off x="1297960" y="700761"/>
            <a:ext cx="12492619" cy="3153409"/>
          </a:xfrm>
        </p:spPr>
        <p:txBody>
          <a:bodyPr anchor="ctr">
            <a:normAutofit/>
          </a:bodyPr>
          <a:lstStyle>
            <a:lvl1pPr algn="l">
              <a:defRPr sz="3281"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36101" y="3854168"/>
            <a:ext cx="12216334" cy="437974"/>
          </a:xfrm>
        </p:spPr>
        <p:txBody>
          <a:bodyPr anchor="ctr"/>
          <a:lstStyle>
            <a:lvl1pPr marL="0" indent="0">
              <a:buFontTx/>
              <a:buNone/>
              <a:defRPr/>
            </a:lvl1pPr>
            <a:lvl2pPr marL="468703" indent="0">
              <a:buFontTx/>
              <a:buNone/>
              <a:defRPr/>
            </a:lvl2pPr>
            <a:lvl3pPr marL="937408" indent="0">
              <a:buFontTx/>
              <a:buNone/>
              <a:defRPr/>
            </a:lvl3pPr>
            <a:lvl4pPr marL="1406110" indent="0">
              <a:buFontTx/>
              <a:buNone/>
              <a:defRPr/>
            </a:lvl4pPr>
            <a:lvl5pPr marL="1874814" indent="0">
              <a:buFontTx/>
              <a:buNone/>
              <a:defRPr/>
            </a:lvl5pPr>
          </a:lstStyle>
          <a:p>
            <a:pPr lvl="0"/>
            <a:r>
              <a:rPr lang="en-US"/>
              <a:t>Click to edit Master text styles</a:t>
            </a:r>
          </a:p>
        </p:txBody>
      </p:sp>
      <p:sp>
        <p:nvSpPr>
          <p:cNvPr id="3" name="Text Placeholder 2"/>
          <p:cNvSpPr>
            <a:spLocks noGrp="1"/>
          </p:cNvSpPr>
          <p:nvPr>
            <p:ph type="body" idx="1"/>
          </p:nvPr>
        </p:nvSpPr>
        <p:spPr>
          <a:xfrm>
            <a:off x="899255" y="4992899"/>
            <a:ext cx="13280037" cy="1664300"/>
          </a:xfrm>
        </p:spPr>
        <p:txBody>
          <a:bodyPr anchor="ctr">
            <a:normAutofit/>
          </a:bodyPr>
          <a:lstStyle>
            <a:lvl1pPr marL="0" indent="0" algn="l">
              <a:buNone/>
              <a:defRPr sz="2051">
                <a:solidFill>
                  <a:schemeClr val="tx1"/>
                </a:solidFill>
              </a:defRPr>
            </a:lvl1pPr>
            <a:lvl2pPr marL="468703" indent="0">
              <a:buNone/>
              <a:defRPr sz="1846">
                <a:solidFill>
                  <a:schemeClr val="tx1">
                    <a:tint val="75000"/>
                  </a:schemeClr>
                </a:solidFill>
              </a:defRPr>
            </a:lvl2pPr>
            <a:lvl3pPr marL="937408" indent="0">
              <a:buNone/>
              <a:defRPr sz="1640">
                <a:solidFill>
                  <a:schemeClr val="tx1">
                    <a:tint val="75000"/>
                  </a:schemeClr>
                </a:solidFill>
              </a:defRPr>
            </a:lvl3pPr>
            <a:lvl4pPr marL="1406110" indent="0">
              <a:buNone/>
              <a:defRPr sz="1435">
                <a:solidFill>
                  <a:schemeClr val="tx1">
                    <a:tint val="75000"/>
                  </a:schemeClr>
                </a:solidFill>
              </a:defRPr>
            </a:lvl4pPr>
            <a:lvl5pPr marL="1874814" indent="0">
              <a:buNone/>
              <a:defRPr sz="1435">
                <a:solidFill>
                  <a:schemeClr val="tx1">
                    <a:tint val="75000"/>
                  </a:schemeClr>
                </a:solidFill>
              </a:defRPr>
            </a:lvl5pPr>
            <a:lvl6pPr marL="2343518" indent="0">
              <a:buNone/>
              <a:defRPr sz="1435">
                <a:solidFill>
                  <a:schemeClr val="tx1">
                    <a:tint val="75000"/>
                  </a:schemeClr>
                </a:solidFill>
              </a:defRPr>
            </a:lvl6pPr>
            <a:lvl7pPr marL="2812222" indent="0">
              <a:buNone/>
              <a:defRPr sz="1435">
                <a:solidFill>
                  <a:schemeClr val="tx1">
                    <a:tint val="75000"/>
                  </a:schemeClr>
                </a:solidFill>
              </a:defRPr>
            </a:lvl7pPr>
            <a:lvl8pPr marL="3280926" indent="0">
              <a:buNone/>
              <a:defRPr sz="1435">
                <a:solidFill>
                  <a:schemeClr val="tx1">
                    <a:tint val="75000"/>
                  </a:schemeClr>
                </a:solidFill>
              </a:defRPr>
            </a:lvl8pPr>
            <a:lvl9pPr marL="3749629" indent="0">
              <a:buNone/>
              <a:defRPr sz="143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title"/>
          </p:nvPr>
        </p:nvSpPr>
        <p:spPr>
          <a:xfrm>
            <a:off x="897081" y="3803337"/>
            <a:ext cx="13252643" cy="1688440"/>
          </a:xfrm>
        </p:spPr>
        <p:txBody>
          <a:bodyPr anchor="b">
            <a:normAutofit/>
          </a:bodyPr>
          <a:lstStyle>
            <a:lvl1pPr algn="l">
              <a:defRPr sz="3281" b="0" cap="none"/>
            </a:lvl1pPr>
          </a:lstStyle>
          <a:p>
            <a:r>
              <a:rPr lang="en-US"/>
              <a:t>Click to edit Master title style</a:t>
            </a:r>
            <a:endParaRPr lang="en-US" dirty="0"/>
          </a:p>
        </p:txBody>
      </p:sp>
      <p:sp>
        <p:nvSpPr>
          <p:cNvPr id="3" name="Text Placeholder 2"/>
          <p:cNvSpPr>
            <a:spLocks noGrp="1"/>
          </p:cNvSpPr>
          <p:nvPr>
            <p:ph type="body" idx="1"/>
          </p:nvPr>
        </p:nvSpPr>
        <p:spPr>
          <a:xfrm>
            <a:off x="897077" y="5491776"/>
            <a:ext cx="13252644" cy="989062"/>
          </a:xfrm>
        </p:spPr>
        <p:txBody>
          <a:bodyPr anchor="t">
            <a:normAutofit/>
          </a:bodyPr>
          <a:lstStyle>
            <a:lvl1pPr marL="0" indent="0" algn="l">
              <a:buNone/>
              <a:defRPr sz="2051">
                <a:solidFill>
                  <a:schemeClr val="tx1"/>
                </a:solidFill>
              </a:defRPr>
            </a:lvl1pPr>
            <a:lvl2pPr marL="468703" indent="0">
              <a:buNone/>
              <a:defRPr sz="1846">
                <a:solidFill>
                  <a:schemeClr val="tx1">
                    <a:tint val="75000"/>
                  </a:schemeClr>
                </a:solidFill>
              </a:defRPr>
            </a:lvl2pPr>
            <a:lvl3pPr marL="937408" indent="0">
              <a:buNone/>
              <a:defRPr sz="1640">
                <a:solidFill>
                  <a:schemeClr val="tx1">
                    <a:tint val="75000"/>
                  </a:schemeClr>
                </a:solidFill>
              </a:defRPr>
            </a:lvl3pPr>
            <a:lvl4pPr marL="1406110" indent="0">
              <a:buNone/>
              <a:defRPr sz="1435">
                <a:solidFill>
                  <a:schemeClr val="tx1">
                    <a:tint val="75000"/>
                  </a:schemeClr>
                </a:solidFill>
              </a:defRPr>
            </a:lvl4pPr>
            <a:lvl5pPr marL="1874814" indent="0">
              <a:buNone/>
              <a:defRPr sz="1435">
                <a:solidFill>
                  <a:schemeClr val="tx1">
                    <a:tint val="75000"/>
                  </a:schemeClr>
                </a:solidFill>
              </a:defRPr>
            </a:lvl5pPr>
            <a:lvl6pPr marL="2343518" indent="0">
              <a:buNone/>
              <a:defRPr sz="1435">
                <a:solidFill>
                  <a:schemeClr val="tx1">
                    <a:tint val="75000"/>
                  </a:schemeClr>
                </a:solidFill>
              </a:defRPr>
            </a:lvl6pPr>
            <a:lvl7pPr marL="2812222" indent="0">
              <a:buNone/>
              <a:defRPr sz="1435">
                <a:solidFill>
                  <a:schemeClr val="tx1">
                    <a:tint val="75000"/>
                  </a:schemeClr>
                </a:solidFill>
              </a:defRPr>
            </a:lvl7pPr>
            <a:lvl8pPr marL="3280926" indent="0">
              <a:buNone/>
              <a:defRPr sz="1435">
                <a:solidFill>
                  <a:schemeClr val="tx1">
                    <a:tint val="75000"/>
                  </a:schemeClr>
                </a:solidFill>
              </a:defRPr>
            </a:lvl8pPr>
            <a:lvl9pPr marL="3749629" indent="0">
              <a:buNone/>
              <a:defRPr sz="143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13" name="TextBox 12"/>
          <p:cNvSpPr txBox="1"/>
          <p:nvPr/>
        </p:nvSpPr>
        <p:spPr>
          <a:xfrm>
            <a:off x="13391878" y="3153411"/>
            <a:ext cx="797401" cy="672221"/>
          </a:xfrm>
          <a:prstGeom prst="rect">
            <a:avLst/>
          </a:prstGeom>
        </p:spPr>
        <p:txBody>
          <a:bodyPr vert="horz" lIns="93735" tIns="46867" rIns="93735" bIns="46867"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201" dirty="0">
                <a:solidFill>
                  <a:schemeClr val="tx1"/>
                </a:solidFill>
                <a:effectLst/>
              </a:rPr>
              <a:t>”</a:t>
            </a:r>
          </a:p>
        </p:txBody>
      </p:sp>
      <p:sp>
        <p:nvSpPr>
          <p:cNvPr id="14" name="TextBox 13"/>
          <p:cNvSpPr txBox="1"/>
          <p:nvPr/>
        </p:nvSpPr>
        <p:spPr>
          <a:xfrm>
            <a:off x="638699" y="946458"/>
            <a:ext cx="797401" cy="672221"/>
          </a:xfrm>
          <a:prstGeom prst="rect">
            <a:avLst/>
          </a:prstGeom>
        </p:spPr>
        <p:txBody>
          <a:bodyPr vert="horz" lIns="93735" tIns="46867" rIns="93735" bIns="46867"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201" dirty="0">
                <a:solidFill>
                  <a:schemeClr val="tx1"/>
                </a:solidFill>
                <a:effectLst/>
              </a:rPr>
              <a:t>“</a:t>
            </a:r>
          </a:p>
        </p:txBody>
      </p:sp>
      <p:sp>
        <p:nvSpPr>
          <p:cNvPr id="16" name="Title 1"/>
          <p:cNvSpPr>
            <a:spLocks noGrp="1"/>
          </p:cNvSpPr>
          <p:nvPr>
            <p:ph type="title"/>
          </p:nvPr>
        </p:nvSpPr>
        <p:spPr>
          <a:xfrm>
            <a:off x="1297960" y="700761"/>
            <a:ext cx="12492619" cy="3153409"/>
          </a:xfrm>
        </p:spPr>
        <p:txBody>
          <a:bodyPr anchor="ctr">
            <a:normAutofit/>
          </a:bodyPr>
          <a:lstStyle>
            <a:lvl1pPr algn="l">
              <a:defRPr sz="3281"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97078" y="4467332"/>
            <a:ext cx="13257888" cy="1021938"/>
          </a:xfrm>
        </p:spPr>
        <p:txBody>
          <a:bodyPr vert="horz" lIns="91440" tIns="45720" rIns="91440" bIns="45720" rtlCol="0" anchor="b">
            <a:normAutofit/>
          </a:bodyPr>
          <a:lstStyle>
            <a:lvl1pPr>
              <a:buNone/>
              <a:defRPr lang="en-US" sz="2461"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97077" y="5489270"/>
            <a:ext cx="13257888" cy="1167929"/>
          </a:xfrm>
        </p:spPr>
        <p:txBody>
          <a:bodyPr anchor="t">
            <a:normAutofit/>
          </a:bodyPr>
          <a:lstStyle>
            <a:lvl1pPr marL="0" indent="0" algn="l">
              <a:buNone/>
              <a:defRPr sz="1846">
                <a:solidFill>
                  <a:schemeClr val="tx1"/>
                </a:solidFill>
              </a:defRPr>
            </a:lvl1pPr>
            <a:lvl2pPr marL="468703" indent="0">
              <a:buNone/>
              <a:defRPr sz="1846">
                <a:solidFill>
                  <a:schemeClr val="tx1">
                    <a:tint val="75000"/>
                  </a:schemeClr>
                </a:solidFill>
              </a:defRPr>
            </a:lvl2pPr>
            <a:lvl3pPr marL="937408" indent="0">
              <a:buNone/>
              <a:defRPr sz="1640">
                <a:solidFill>
                  <a:schemeClr val="tx1">
                    <a:tint val="75000"/>
                  </a:schemeClr>
                </a:solidFill>
              </a:defRPr>
            </a:lvl3pPr>
            <a:lvl4pPr marL="1406110" indent="0">
              <a:buNone/>
              <a:defRPr sz="1435">
                <a:solidFill>
                  <a:schemeClr val="tx1">
                    <a:tint val="75000"/>
                  </a:schemeClr>
                </a:solidFill>
              </a:defRPr>
            </a:lvl4pPr>
            <a:lvl5pPr marL="1874814" indent="0">
              <a:buNone/>
              <a:defRPr sz="1435">
                <a:solidFill>
                  <a:schemeClr val="tx1">
                    <a:tint val="75000"/>
                  </a:schemeClr>
                </a:solidFill>
              </a:defRPr>
            </a:lvl5pPr>
            <a:lvl6pPr marL="2343518" indent="0">
              <a:buNone/>
              <a:defRPr sz="1435">
                <a:solidFill>
                  <a:schemeClr val="tx1">
                    <a:tint val="75000"/>
                  </a:schemeClr>
                </a:solidFill>
              </a:defRPr>
            </a:lvl6pPr>
            <a:lvl7pPr marL="2812222" indent="0">
              <a:buNone/>
              <a:defRPr sz="1435">
                <a:solidFill>
                  <a:schemeClr val="tx1">
                    <a:tint val="75000"/>
                  </a:schemeClr>
                </a:solidFill>
              </a:defRPr>
            </a:lvl7pPr>
            <a:lvl8pPr marL="3280926" indent="0">
              <a:buNone/>
              <a:defRPr sz="1435">
                <a:solidFill>
                  <a:schemeClr val="tx1">
                    <a:tint val="75000"/>
                  </a:schemeClr>
                </a:solidFill>
              </a:defRPr>
            </a:lvl8pPr>
            <a:lvl9pPr marL="3749629" indent="0">
              <a:buNone/>
              <a:defRPr sz="143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Title 1"/>
          <p:cNvSpPr>
            <a:spLocks noGrp="1"/>
          </p:cNvSpPr>
          <p:nvPr>
            <p:ph type="title"/>
          </p:nvPr>
        </p:nvSpPr>
        <p:spPr>
          <a:xfrm>
            <a:off x="897080" y="700761"/>
            <a:ext cx="13252645" cy="315340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897078" y="4029358"/>
            <a:ext cx="13252646" cy="963543"/>
          </a:xfrm>
        </p:spPr>
        <p:txBody>
          <a:bodyPr vert="horz" lIns="91440" tIns="45720" rIns="91440" bIns="45720" rtlCol="0" anchor="b">
            <a:normAutofit/>
          </a:bodyPr>
          <a:lstStyle>
            <a:lvl1pPr>
              <a:buNone/>
              <a:defRPr lang="en-US" sz="2871"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97076" y="4992899"/>
            <a:ext cx="13252646" cy="1664300"/>
          </a:xfrm>
        </p:spPr>
        <p:txBody>
          <a:bodyPr anchor="t">
            <a:normAutofit/>
          </a:bodyPr>
          <a:lstStyle>
            <a:lvl1pPr marL="0" indent="0" algn="l">
              <a:buNone/>
              <a:defRPr sz="1846">
                <a:solidFill>
                  <a:schemeClr val="tx1"/>
                </a:solidFill>
              </a:defRPr>
            </a:lvl1pPr>
            <a:lvl2pPr marL="468703" indent="0">
              <a:buNone/>
              <a:defRPr sz="1846">
                <a:solidFill>
                  <a:schemeClr val="tx1">
                    <a:tint val="75000"/>
                  </a:schemeClr>
                </a:solidFill>
              </a:defRPr>
            </a:lvl2pPr>
            <a:lvl3pPr marL="937408" indent="0">
              <a:buNone/>
              <a:defRPr sz="1640">
                <a:solidFill>
                  <a:schemeClr val="tx1">
                    <a:tint val="75000"/>
                  </a:schemeClr>
                </a:solidFill>
              </a:defRPr>
            </a:lvl3pPr>
            <a:lvl4pPr marL="1406110" indent="0">
              <a:buNone/>
              <a:defRPr sz="1435">
                <a:solidFill>
                  <a:schemeClr val="tx1">
                    <a:tint val="75000"/>
                  </a:schemeClr>
                </a:solidFill>
              </a:defRPr>
            </a:lvl4pPr>
            <a:lvl5pPr marL="1874814" indent="0">
              <a:buNone/>
              <a:defRPr sz="1435">
                <a:solidFill>
                  <a:schemeClr val="tx1">
                    <a:tint val="75000"/>
                  </a:schemeClr>
                </a:solidFill>
              </a:defRPr>
            </a:lvl5pPr>
            <a:lvl6pPr marL="2343518" indent="0">
              <a:buNone/>
              <a:defRPr sz="1435">
                <a:solidFill>
                  <a:schemeClr val="tx1">
                    <a:tint val="75000"/>
                  </a:schemeClr>
                </a:solidFill>
              </a:defRPr>
            </a:lvl6pPr>
            <a:lvl7pPr marL="2812222" indent="0">
              <a:buNone/>
              <a:defRPr sz="1435">
                <a:solidFill>
                  <a:schemeClr val="tx1">
                    <a:tint val="75000"/>
                  </a:schemeClr>
                </a:solidFill>
              </a:defRPr>
            </a:lvl7pPr>
            <a:lvl8pPr marL="3280926" indent="0">
              <a:buNone/>
              <a:defRPr sz="1435">
                <a:solidFill>
                  <a:schemeClr val="tx1">
                    <a:tint val="75000"/>
                  </a:schemeClr>
                </a:solidFill>
              </a:defRPr>
            </a:lvl8pPr>
            <a:lvl9pPr marL="3749629" indent="0">
              <a:buNone/>
              <a:defRPr sz="143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897080" y="700759"/>
            <a:ext cx="13252643" cy="1674033"/>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5943870" cy="7881472"/>
          </a:xfrm>
          <a:prstGeom prst="rect">
            <a:avLst/>
          </a:prstGeom>
        </p:spPr>
      </p:pic>
      <p:sp>
        <p:nvSpPr>
          <p:cNvPr id="2" name="Vertical Title 1"/>
          <p:cNvSpPr>
            <a:spLocks noGrp="1"/>
          </p:cNvSpPr>
          <p:nvPr>
            <p:ph type="title" orient="vert"/>
          </p:nvPr>
        </p:nvSpPr>
        <p:spPr>
          <a:xfrm>
            <a:off x="11326179" y="700758"/>
            <a:ext cx="2823543" cy="595644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97077" y="700758"/>
            <a:ext cx="10244978" cy="595644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7080" y="700759"/>
            <a:ext cx="13252643" cy="1674033"/>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97080" y="2462386"/>
            <a:ext cx="13252643" cy="419481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235902" y="6748444"/>
            <a:ext cx="2093179" cy="434324"/>
          </a:xfrm>
          <a:prstGeom prst="rect">
            <a:avLst/>
          </a:prstGeom>
        </p:spPr>
        <p:txBody>
          <a:bodyPr vert="horz" lIns="91440" tIns="45720" rIns="91440" bIns="45720" rtlCol="0" anchor="ctr"/>
          <a:lstStyle>
            <a:lvl1pPr algn="r">
              <a:defRPr sz="1026" b="0" i="0">
                <a:solidFill>
                  <a:schemeClr val="tx1"/>
                </a:solidFill>
                <a:effectLst/>
                <a:latin typeface="+mn-lt"/>
              </a:defRPr>
            </a:lvl1pPr>
          </a:lstStyle>
          <a:p>
            <a:fld id="{B61BEF0D-F0BB-DE4B-95CE-6DB70DBA9567}" type="datetimeFigureOut">
              <a:rPr lang="en-US" dirty="0"/>
              <a:pPr/>
              <a:t>1/19/2026</a:t>
            </a:fld>
            <a:endParaRPr lang="en-US" dirty="0"/>
          </a:p>
        </p:txBody>
      </p:sp>
      <p:sp>
        <p:nvSpPr>
          <p:cNvPr id="5" name="Footer Placeholder 4"/>
          <p:cNvSpPr>
            <a:spLocks noGrp="1"/>
          </p:cNvSpPr>
          <p:nvPr>
            <p:ph type="ftr" sz="quarter" idx="3"/>
          </p:nvPr>
        </p:nvSpPr>
        <p:spPr>
          <a:xfrm>
            <a:off x="897076" y="6748444"/>
            <a:ext cx="10239150" cy="434324"/>
          </a:xfrm>
          <a:prstGeom prst="rect">
            <a:avLst/>
          </a:prstGeom>
        </p:spPr>
        <p:txBody>
          <a:bodyPr vert="horz" lIns="91440" tIns="45720" rIns="91440" bIns="45720" rtlCol="0" anchor="ctr"/>
          <a:lstStyle>
            <a:lvl1pPr algn="l">
              <a:defRPr sz="1026"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3428756" y="6748444"/>
            <a:ext cx="720967" cy="434324"/>
          </a:xfrm>
          <a:prstGeom prst="rect">
            <a:avLst/>
          </a:prstGeom>
        </p:spPr>
        <p:txBody>
          <a:bodyPr vert="horz" lIns="91440" tIns="45720" rIns="91440" bIns="45720" rtlCol="0" anchor="ctr"/>
          <a:lstStyle>
            <a:lvl1pPr algn="r">
              <a:defRPr sz="1026"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68703" rtl="0" eaLnBrk="1" latinLnBrk="0" hangingPunct="1">
        <a:spcBef>
          <a:spcPct val="0"/>
        </a:spcBef>
        <a:buNone/>
        <a:defRPr sz="369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92940" indent="-292940" algn="l" defTabSz="468703" rtl="0" eaLnBrk="1" latinLnBrk="0" hangingPunct="1">
        <a:spcBef>
          <a:spcPts val="0"/>
        </a:spcBef>
        <a:spcAft>
          <a:spcPts val="1026"/>
        </a:spcAft>
        <a:buClr>
          <a:schemeClr val="tx1"/>
        </a:buClr>
        <a:buSzPct val="100000"/>
        <a:buFont typeface="Arial"/>
        <a:buChar char="•"/>
        <a:defRPr sz="1846" kern="1200" cap="none">
          <a:solidFill>
            <a:schemeClr val="tx1"/>
          </a:solidFill>
          <a:effectLst/>
          <a:latin typeface="+mn-lt"/>
          <a:ea typeface="+mn-ea"/>
          <a:cs typeface="+mn-cs"/>
        </a:defRPr>
      </a:lvl1pPr>
      <a:lvl2pPr marL="761643" indent="-292940" algn="l" defTabSz="468703" rtl="0" eaLnBrk="1" latinLnBrk="0" hangingPunct="1">
        <a:spcBef>
          <a:spcPts val="0"/>
        </a:spcBef>
        <a:spcAft>
          <a:spcPts val="1026"/>
        </a:spcAft>
        <a:buClr>
          <a:schemeClr val="tx1"/>
        </a:buClr>
        <a:buSzPct val="100000"/>
        <a:buFont typeface="Arial"/>
        <a:buChar char="•"/>
        <a:defRPr sz="1640" kern="1200" cap="none">
          <a:solidFill>
            <a:schemeClr val="tx1"/>
          </a:solidFill>
          <a:effectLst/>
          <a:latin typeface="+mn-lt"/>
          <a:ea typeface="+mn-ea"/>
          <a:cs typeface="+mn-cs"/>
        </a:defRPr>
      </a:lvl2pPr>
      <a:lvl3pPr marL="1230347" indent="-292940" algn="l" defTabSz="468703" rtl="0" eaLnBrk="1" latinLnBrk="0" hangingPunct="1">
        <a:spcBef>
          <a:spcPts val="0"/>
        </a:spcBef>
        <a:spcAft>
          <a:spcPts val="1026"/>
        </a:spcAft>
        <a:buClr>
          <a:schemeClr val="tx1"/>
        </a:buClr>
        <a:buSzPct val="100000"/>
        <a:buFont typeface="Arial"/>
        <a:buChar char="•"/>
        <a:defRPr sz="1435" kern="1200" cap="none">
          <a:solidFill>
            <a:schemeClr val="tx1"/>
          </a:solidFill>
          <a:effectLst/>
          <a:latin typeface="+mn-lt"/>
          <a:ea typeface="+mn-ea"/>
          <a:cs typeface="+mn-cs"/>
        </a:defRPr>
      </a:lvl3pPr>
      <a:lvl4pPr marL="1581874" indent="-175764" algn="l" defTabSz="468703" rtl="0" eaLnBrk="1" latinLnBrk="0" hangingPunct="1">
        <a:spcBef>
          <a:spcPts val="0"/>
        </a:spcBef>
        <a:spcAft>
          <a:spcPts val="1026"/>
        </a:spcAft>
        <a:buClr>
          <a:schemeClr val="tx1"/>
        </a:buClr>
        <a:buSzPct val="100000"/>
        <a:buFont typeface="Arial"/>
        <a:buChar char="•"/>
        <a:defRPr sz="1231" kern="1200" cap="none">
          <a:solidFill>
            <a:schemeClr val="tx1"/>
          </a:solidFill>
          <a:effectLst/>
          <a:latin typeface="+mn-lt"/>
          <a:ea typeface="+mn-ea"/>
          <a:cs typeface="+mn-cs"/>
        </a:defRPr>
      </a:lvl4pPr>
      <a:lvl5pPr marL="2050579" indent="-175764" algn="l" defTabSz="468703" rtl="0" eaLnBrk="1" latinLnBrk="0" hangingPunct="1">
        <a:spcBef>
          <a:spcPts val="0"/>
        </a:spcBef>
        <a:spcAft>
          <a:spcPts val="1026"/>
        </a:spcAft>
        <a:buClr>
          <a:schemeClr val="tx1"/>
        </a:buClr>
        <a:buSzPct val="100000"/>
        <a:buFont typeface="Arial"/>
        <a:buChar char="•"/>
        <a:defRPr sz="1231" kern="1200" cap="none">
          <a:solidFill>
            <a:schemeClr val="tx1"/>
          </a:solidFill>
          <a:effectLst/>
          <a:latin typeface="+mn-lt"/>
          <a:ea typeface="+mn-ea"/>
          <a:cs typeface="+mn-cs"/>
        </a:defRPr>
      </a:lvl5pPr>
      <a:lvl6pPr marL="2577870" indent="-234352" algn="l" defTabSz="468703" rtl="0" eaLnBrk="1" latinLnBrk="0" hangingPunct="1">
        <a:spcBef>
          <a:spcPts val="0"/>
        </a:spcBef>
        <a:spcAft>
          <a:spcPts val="1026"/>
        </a:spcAft>
        <a:buClr>
          <a:schemeClr val="tx1"/>
        </a:buClr>
        <a:buSzPct val="100000"/>
        <a:buFont typeface="Arial"/>
        <a:buChar char="•"/>
        <a:defRPr sz="1231" kern="1200" cap="none">
          <a:solidFill>
            <a:schemeClr val="tx1"/>
          </a:solidFill>
          <a:effectLst/>
          <a:latin typeface="+mn-lt"/>
          <a:ea typeface="+mn-ea"/>
          <a:cs typeface="+mn-cs"/>
        </a:defRPr>
      </a:lvl6pPr>
      <a:lvl7pPr marL="3046574" indent="-234352" algn="l" defTabSz="468703" rtl="0" eaLnBrk="1" latinLnBrk="0" hangingPunct="1">
        <a:spcBef>
          <a:spcPts val="0"/>
        </a:spcBef>
        <a:spcAft>
          <a:spcPts val="1026"/>
        </a:spcAft>
        <a:buClr>
          <a:schemeClr val="tx1"/>
        </a:buClr>
        <a:buSzPct val="100000"/>
        <a:buFont typeface="Arial"/>
        <a:buChar char="•"/>
        <a:defRPr sz="1231" kern="1200" cap="none">
          <a:solidFill>
            <a:schemeClr val="tx1"/>
          </a:solidFill>
          <a:effectLst/>
          <a:latin typeface="+mn-lt"/>
          <a:ea typeface="+mn-ea"/>
          <a:cs typeface="+mn-cs"/>
        </a:defRPr>
      </a:lvl7pPr>
      <a:lvl8pPr marL="3515278" indent="-234352" algn="l" defTabSz="468703" rtl="0" eaLnBrk="1" latinLnBrk="0" hangingPunct="1">
        <a:spcBef>
          <a:spcPts val="0"/>
        </a:spcBef>
        <a:spcAft>
          <a:spcPts val="1026"/>
        </a:spcAft>
        <a:buClr>
          <a:schemeClr val="tx1"/>
        </a:buClr>
        <a:buSzPct val="100000"/>
        <a:buFont typeface="Arial"/>
        <a:buChar char="•"/>
        <a:defRPr sz="1231" kern="1200" cap="none">
          <a:solidFill>
            <a:schemeClr val="tx1"/>
          </a:solidFill>
          <a:effectLst/>
          <a:latin typeface="+mn-lt"/>
          <a:ea typeface="+mn-ea"/>
          <a:cs typeface="+mn-cs"/>
        </a:defRPr>
      </a:lvl8pPr>
      <a:lvl9pPr marL="3983981" indent="-234352" algn="l" defTabSz="468703" rtl="0" eaLnBrk="1" latinLnBrk="0" hangingPunct="1">
        <a:spcBef>
          <a:spcPts val="0"/>
        </a:spcBef>
        <a:spcAft>
          <a:spcPts val="1026"/>
        </a:spcAft>
        <a:buClr>
          <a:schemeClr val="tx1"/>
        </a:buClr>
        <a:buSzPct val="100000"/>
        <a:buFont typeface="Arial"/>
        <a:buChar char="•"/>
        <a:defRPr sz="1231" kern="1200" cap="none">
          <a:solidFill>
            <a:schemeClr val="tx1"/>
          </a:solidFill>
          <a:effectLst/>
          <a:latin typeface="+mn-lt"/>
          <a:ea typeface="+mn-ea"/>
          <a:cs typeface="+mn-cs"/>
        </a:defRPr>
      </a:lvl9pPr>
    </p:bodyStyle>
    <p:otherStyle>
      <a:defPPr>
        <a:defRPr lang="en-US"/>
      </a:defPPr>
      <a:lvl1pPr marL="0" algn="l" defTabSz="468703" rtl="0" eaLnBrk="1" latinLnBrk="0" hangingPunct="1">
        <a:defRPr sz="1846" kern="1200">
          <a:solidFill>
            <a:schemeClr val="tx1"/>
          </a:solidFill>
          <a:latin typeface="+mn-lt"/>
          <a:ea typeface="+mn-ea"/>
          <a:cs typeface="+mn-cs"/>
        </a:defRPr>
      </a:lvl1pPr>
      <a:lvl2pPr marL="468703" algn="l" defTabSz="468703" rtl="0" eaLnBrk="1" latinLnBrk="0" hangingPunct="1">
        <a:defRPr sz="1846" kern="1200">
          <a:solidFill>
            <a:schemeClr val="tx1"/>
          </a:solidFill>
          <a:latin typeface="+mn-lt"/>
          <a:ea typeface="+mn-ea"/>
          <a:cs typeface="+mn-cs"/>
        </a:defRPr>
      </a:lvl2pPr>
      <a:lvl3pPr marL="937408" algn="l" defTabSz="468703" rtl="0" eaLnBrk="1" latinLnBrk="0" hangingPunct="1">
        <a:defRPr sz="1846" kern="1200">
          <a:solidFill>
            <a:schemeClr val="tx1"/>
          </a:solidFill>
          <a:latin typeface="+mn-lt"/>
          <a:ea typeface="+mn-ea"/>
          <a:cs typeface="+mn-cs"/>
        </a:defRPr>
      </a:lvl3pPr>
      <a:lvl4pPr marL="1406110" algn="l" defTabSz="468703" rtl="0" eaLnBrk="1" latinLnBrk="0" hangingPunct="1">
        <a:defRPr sz="1846" kern="1200">
          <a:solidFill>
            <a:schemeClr val="tx1"/>
          </a:solidFill>
          <a:latin typeface="+mn-lt"/>
          <a:ea typeface="+mn-ea"/>
          <a:cs typeface="+mn-cs"/>
        </a:defRPr>
      </a:lvl4pPr>
      <a:lvl5pPr marL="1874814" algn="l" defTabSz="468703" rtl="0" eaLnBrk="1" latinLnBrk="0" hangingPunct="1">
        <a:defRPr sz="1846" kern="1200">
          <a:solidFill>
            <a:schemeClr val="tx1"/>
          </a:solidFill>
          <a:latin typeface="+mn-lt"/>
          <a:ea typeface="+mn-ea"/>
          <a:cs typeface="+mn-cs"/>
        </a:defRPr>
      </a:lvl5pPr>
      <a:lvl6pPr marL="2343518" algn="l" defTabSz="468703" rtl="0" eaLnBrk="1" latinLnBrk="0" hangingPunct="1">
        <a:defRPr sz="1846" kern="1200">
          <a:solidFill>
            <a:schemeClr val="tx1"/>
          </a:solidFill>
          <a:latin typeface="+mn-lt"/>
          <a:ea typeface="+mn-ea"/>
          <a:cs typeface="+mn-cs"/>
        </a:defRPr>
      </a:lvl6pPr>
      <a:lvl7pPr marL="2812222" algn="l" defTabSz="468703" rtl="0" eaLnBrk="1" latinLnBrk="0" hangingPunct="1">
        <a:defRPr sz="1846" kern="1200">
          <a:solidFill>
            <a:schemeClr val="tx1"/>
          </a:solidFill>
          <a:latin typeface="+mn-lt"/>
          <a:ea typeface="+mn-ea"/>
          <a:cs typeface="+mn-cs"/>
        </a:defRPr>
      </a:lvl7pPr>
      <a:lvl8pPr marL="3280926" algn="l" defTabSz="468703" rtl="0" eaLnBrk="1" latinLnBrk="0" hangingPunct="1">
        <a:defRPr sz="1846" kern="1200">
          <a:solidFill>
            <a:schemeClr val="tx1"/>
          </a:solidFill>
          <a:latin typeface="+mn-lt"/>
          <a:ea typeface="+mn-ea"/>
          <a:cs typeface="+mn-cs"/>
        </a:defRPr>
      </a:lvl8pPr>
      <a:lvl9pPr marL="3749629" algn="l" defTabSz="468703" rtl="0" eaLnBrk="1" latinLnBrk="0" hangingPunct="1">
        <a:defRPr sz="18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customXml" Target="../ink/ink2.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1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48B4B-0AE8-8CAF-5972-251B3D6D15F1}"/>
              </a:ext>
            </a:extLst>
          </p:cNvPr>
          <p:cNvSpPr>
            <a:spLocks noGrp="1"/>
          </p:cNvSpPr>
          <p:nvPr>
            <p:ph type="ctrTitle"/>
          </p:nvPr>
        </p:nvSpPr>
        <p:spPr>
          <a:xfrm>
            <a:off x="2019610" y="3745281"/>
            <a:ext cx="11908803" cy="2385183"/>
          </a:xfrm>
        </p:spPr>
        <p:txBody>
          <a:bodyPr>
            <a:normAutofit fontScale="90000"/>
          </a:bodyPr>
          <a:lstStyle/>
          <a:p>
            <a:pPr algn="l"/>
            <a:r>
              <a:rPr lang="en-US" sz="98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ADVENTURE WORKS </a:t>
            </a:r>
            <a:br>
              <a:rPr lang="en-US" sz="9800" dirty="0">
                <a:ln w="12700">
                  <a:noFill/>
                </a:ln>
                <a:gradFill>
                  <a:gsLst>
                    <a:gs pos="0">
                      <a:srgbClr val="B8860B"/>
                    </a:gs>
                    <a:gs pos="35000">
                      <a:srgbClr val="FFD966"/>
                    </a:gs>
                    <a:gs pos="55000">
                      <a:srgbClr val="FFF2CC"/>
                    </a:gs>
                    <a:gs pos="100000">
                      <a:srgbClr val="C9A227"/>
                    </a:gs>
                  </a:gsLst>
                  <a:lin ang="5400000" scaled="1"/>
                </a:gradFill>
                <a:latin typeface="Rockwell Extra Bold" panose="02060903040505020403" pitchFamily="18" charset="0"/>
              </a:rPr>
            </a:br>
            <a:br>
              <a:rPr lang="en-US"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br>
            <a: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project by:</a:t>
            </a:r>
            <a:b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br>
            <a: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KOUSHIK</a:t>
            </a:r>
            <a:b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br>
            <a: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SELVABHARATHI S</a:t>
            </a:r>
            <a:b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br>
            <a: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MADHU R BANGERA</a:t>
            </a:r>
            <a:b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br>
            <a: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MEESALA RENUKA</a:t>
            </a:r>
            <a:b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br>
            <a: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ABDUL RAASHID S</a:t>
            </a:r>
            <a:b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br>
            <a:r>
              <a:rPr lang="en-US" sz="22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G SAI ASHISH</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6491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BEF9A-5B3C-38A6-49E4-CA2EC2C82572}"/>
              </a:ext>
            </a:extLst>
          </p:cNvPr>
          <p:cNvSpPr>
            <a:spLocks noGrp="1"/>
          </p:cNvSpPr>
          <p:nvPr>
            <p:ph type="title"/>
          </p:nvPr>
        </p:nvSpPr>
        <p:spPr>
          <a:xfrm>
            <a:off x="2372235" y="1754615"/>
            <a:ext cx="10597720" cy="357086"/>
          </a:xfrm>
        </p:spPr>
        <p:txBody>
          <a:bodyPr>
            <a:normAutofit fontScale="90000"/>
          </a:bodyPr>
          <a:lstStyle/>
          <a:p>
            <a:r>
              <a:rPr lang="en-US" b="1"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 Agenda</a:t>
            </a:r>
            <a:br>
              <a:rPr lang="en-US" b="1"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br>
            <a:endParaRPr lang="en-IN" dirty="0"/>
          </a:p>
        </p:txBody>
      </p:sp>
      <p:sp>
        <p:nvSpPr>
          <p:cNvPr id="3" name="Content Placeholder 2">
            <a:extLst>
              <a:ext uri="{FF2B5EF4-FFF2-40B4-BE49-F238E27FC236}">
                <a16:creationId xmlns:a16="http://schemas.microsoft.com/office/drawing/2014/main" id="{995BD193-6646-8326-C1C3-5ECC6B32094E}"/>
              </a:ext>
            </a:extLst>
          </p:cNvPr>
          <p:cNvSpPr>
            <a:spLocks noGrp="1"/>
          </p:cNvSpPr>
          <p:nvPr>
            <p:ph idx="1"/>
          </p:nvPr>
        </p:nvSpPr>
        <p:spPr>
          <a:xfrm>
            <a:off x="2372235" y="2111702"/>
            <a:ext cx="10441496" cy="4842969"/>
          </a:xfrm>
        </p:spPr>
        <p:txBody>
          <a:bodyPr>
            <a:normAutofit lnSpcReduction="10000"/>
          </a:bodyPr>
          <a:lstStyle/>
          <a:p>
            <a:pPr marL="351528" indent="-351528">
              <a:lnSpc>
                <a:spcPct val="150000"/>
              </a:lnSpc>
              <a:buFont typeface="Arial" panose="020B0604020202020204" pitchFamily="34" charset="0"/>
              <a:buChar char="•"/>
            </a:pPr>
            <a:r>
              <a:rPr lang="en-US" b="1" dirty="0">
                <a:solidFill>
                  <a:srgbClr val="CFCBBF"/>
                </a:solidFill>
                <a:latin typeface="Raleway" pitchFamily="34" charset="0"/>
                <a:ea typeface="Raleway" pitchFamily="34" charset="-122"/>
                <a:cs typeface="Raleway" pitchFamily="34" charset="-120"/>
              </a:rPr>
              <a:t> Introduction</a:t>
            </a:r>
          </a:p>
          <a:p>
            <a:pPr marL="351528" indent="-351528">
              <a:lnSpc>
                <a:spcPct val="150000"/>
              </a:lnSpc>
              <a:buFont typeface="Arial" panose="020B0604020202020204" pitchFamily="34" charset="0"/>
              <a:buChar char="•"/>
            </a:pPr>
            <a:r>
              <a:rPr lang="en-US" b="1" dirty="0">
                <a:solidFill>
                  <a:srgbClr val="CFCBBF"/>
                </a:solidFill>
                <a:latin typeface="Raleway" pitchFamily="34" charset="0"/>
              </a:rPr>
              <a:t> Data Overview</a:t>
            </a:r>
          </a:p>
          <a:p>
            <a:pPr marL="351528" indent="-351528">
              <a:lnSpc>
                <a:spcPct val="150000"/>
              </a:lnSpc>
              <a:buFont typeface="Arial" panose="020B0604020202020204" pitchFamily="34" charset="0"/>
              <a:buChar char="•"/>
            </a:pPr>
            <a:r>
              <a:rPr lang="en-US" b="1" dirty="0">
                <a:solidFill>
                  <a:srgbClr val="CFCBBF"/>
                </a:solidFill>
                <a:latin typeface="Raleway" pitchFamily="34" charset="0"/>
              </a:rPr>
              <a:t> Objectives </a:t>
            </a:r>
          </a:p>
          <a:p>
            <a:pPr marL="351528" indent="-351528">
              <a:lnSpc>
                <a:spcPct val="150000"/>
              </a:lnSpc>
              <a:buFont typeface="Arial" panose="020B0604020202020204" pitchFamily="34" charset="0"/>
              <a:buChar char="•"/>
            </a:pPr>
            <a:r>
              <a:rPr lang="en-US" b="1" dirty="0">
                <a:solidFill>
                  <a:srgbClr val="CFCBBF"/>
                </a:solidFill>
                <a:latin typeface="Raleway" pitchFamily="34" charset="0"/>
              </a:rPr>
              <a:t> Process</a:t>
            </a:r>
          </a:p>
          <a:p>
            <a:pPr marL="351528" indent="-351528">
              <a:lnSpc>
                <a:spcPct val="150000"/>
              </a:lnSpc>
              <a:buFont typeface="Arial" panose="020B0604020202020204" pitchFamily="34" charset="0"/>
              <a:buChar char="•"/>
            </a:pPr>
            <a:r>
              <a:rPr lang="en-US" b="1" dirty="0">
                <a:solidFill>
                  <a:srgbClr val="CFCBBF"/>
                </a:solidFill>
                <a:latin typeface="Raleway" pitchFamily="34" charset="0"/>
              </a:rPr>
              <a:t> Analysis</a:t>
            </a:r>
          </a:p>
          <a:p>
            <a:pPr marL="351528" indent="-351528">
              <a:lnSpc>
                <a:spcPct val="150000"/>
              </a:lnSpc>
              <a:buFont typeface="Arial" panose="020B0604020202020204" pitchFamily="34" charset="0"/>
              <a:buChar char="•"/>
            </a:pPr>
            <a:r>
              <a:rPr lang="en-US" b="1" dirty="0">
                <a:solidFill>
                  <a:srgbClr val="CFCBBF"/>
                </a:solidFill>
                <a:latin typeface="Raleway" pitchFamily="34" charset="0"/>
              </a:rPr>
              <a:t> Recommendations and Insights </a:t>
            </a:r>
          </a:p>
          <a:p>
            <a:pPr marL="351528" indent="-351528">
              <a:lnSpc>
                <a:spcPct val="150000"/>
              </a:lnSpc>
              <a:buFont typeface="Arial" panose="020B0604020202020204" pitchFamily="34" charset="0"/>
              <a:buChar char="•"/>
            </a:pPr>
            <a:r>
              <a:rPr lang="en-US" b="1" dirty="0">
                <a:solidFill>
                  <a:srgbClr val="CFCBBF"/>
                </a:solidFill>
                <a:latin typeface="Raleway" pitchFamily="34" charset="0"/>
              </a:rPr>
              <a:t> Conclusion </a:t>
            </a:r>
          </a:p>
          <a:p>
            <a:pPr marL="351528" indent="-351528">
              <a:lnSpc>
                <a:spcPct val="150000"/>
              </a:lnSpc>
              <a:buFont typeface="Arial" panose="020B0604020202020204" pitchFamily="34" charset="0"/>
              <a:buChar char="•"/>
            </a:pPr>
            <a:r>
              <a:rPr lang="en-US" b="1" dirty="0">
                <a:solidFill>
                  <a:srgbClr val="CFCBBF"/>
                </a:solidFill>
                <a:latin typeface="Raleway" pitchFamily="34" charset="0"/>
              </a:rPr>
              <a:t> Challenges &amp; Learnings </a:t>
            </a:r>
          </a:p>
          <a:p>
            <a:pPr marL="351528" indent="-351528">
              <a:lnSpc>
                <a:spcPct val="150000"/>
              </a:lnSpc>
              <a:buFont typeface="Arial" panose="020B0604020202020204" pitchFamily="34" charset="0"/>
              <a:buChar char="•"/>
            </a:pPr>
            <a:r>
              <a:rPr lang="en-US" b="1" dirty="0">
                <a:solidFill>
                  <a:srgbClr val="CFCBBF"/>
                </a:solidFill>
                <a:latin typeface="Raleway" pitchFamily="34" charset="0"/>
              </a:rPr>
              <a:t> Dashboard </a:t>
            </a:r>
            <a:endParaRPr lang="en-US" b="1" dirty="0"/>
          </a:p>
          <a:p>
            <a:pPr marL="0" indent="0">
              <a:buNone/>
            </a:pPr>
            <a:endParaRPr lang="en-IN" dirty="0"/>
          </a:p>
        </p:txBody>
      </p:sp>
    </p:spTree>
    <p:extLst>
      <p:ext uri="{BB962C8B-B14F-4D97-AF65-F5344CB8AC3E}">
        <p14:creationId xmlns:p14="http://schemas.microsoft.com/office/powerpoint/2010/main" val="955863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8B2C40-6886-5FB2-5865-C264E1238A14}"/>
              </a:ext>
            </a:extLst>
          </p:cNvPr>
          <p:cNvSpPr txBox="1"/>
          <p:nvPr/>
        </p:nvSpPr>
        <p:spPr>
          <a:xfrm>
            <a:off x="1945444" y="477520"/>
            <a:ext cx="13067098" cy="596766"/>
          </a:xfrm>
          <a:prstGeom prst="rect">
            <a:avLst/>
          </a:prstGeom>
          <a:noFill/>
        </p:spPr>
        <p:txBody>
          <a:bodyPr wrap="square">
            <a:spAutoFit/>
          </a:bodyPr>
          <a:lstStyle/>
          <a:p>
            <a:pPr>
              <a:lnSpc>
                <a:spcPts val="3895"/>
              </a:lnSpc>
            </a:pPr>
            <a:r>
              <a:rPr lang="en-US" sz="4301"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Adventure Works: Introduction</a:t>
            </a:r>
          </a:p>
        </p:txBody>
      </p:sp>
      <p:sp>
        <p:nvSpPr>
          <p:cNvPr id="5" name="TextBox 4">
            <a:extLst>
              <a:ext uri="{FF2B5EF4-FFF2-40B4-BE49-F238E27FC236}">
                <a16:creationId xmlns:a16="http://schemas.microsoft.com/office/drawing/2014/main" id="{C93493C4-379E-7F63-C2C0-806D464B2A38}"/>
              </a:ext>
            </a:extLst>
          </p:cNvPr>
          <p:cNvSpPr txBox="1"/>
          <p:nvPr/>
        </p:nvSpPr>
        <p:spPr>
          <a:xfrm>
            <a:off x="2160216" y="1384659"/>
            <a:ext cx="8235282" cy="360542"/>
          </a:xfrm>
          <a:prstGeom prst="rect">
            <a:avLst/>
          </a:prstGeom>
          <a:noFill/>
        </p:spPr>
        <p:txBody>
          <a:bodyPr wrap="square">
            <a:spAutoFit/>
          </a:bodyPr>
          <a:lstStyle/>
          <a:p>
            <a:pPr>
              <a:lnSpc>
                <a:spcPts val="1948"/>
              </a:lnSpc>
            </a:pPr>
            <a:r>
              <a:rPr lang="en-US" sz="2737" dirty="0">
                <a:solidFill>
                  <a:srgbClr val="F2E782"/>
                </a:solidFill>
                <a:latin typeface="Times New Roman" panose="02020603050405020304" pitchFamily="18" charset="0"/>
                <a:cs typeface="Times New Roman" panose="02020603050405020304" pitchFamily="18" charset="0"/>
              </a:rPr>
              <a:t>Domain Overview</a:t>
            </a:r>
          </a:p>
        </p:txBody>
      </p:sp>
      <p:sp>
        <p:nvSpPr>
          <p:cNvPr id="7" name="TextBox 6">
            <a:extLst>
              <a:ext uri="{FF2B5EF4-FFF2-40B4-BE49-F238E27FC236}">
                <a16:creationId xmlns:a16="http://schemas.microsoft.com/office/drawing/2014/main" id="{5F48A4F1-0791-40C4-1D9D-2BE911F61851}"/>
              </a:ext>
            </a:extLst>
          </p:cNvPr>
          <p:cNvSpPr txBox="1"/>
          <p:nvPr/>
        </p:nvSpPr>
        <p:spPr>
          <a:xfrm>
            <a:off x="1831028" y="1729081"/>
            <a:ext cx="6377322" cy="1374735"/>
          </a:xfrm>
          <a:prstGeom prst="rect">
            <a:avLst/>
          </a:prstGeom>
          <a:noFill/>
        </p:spPr>
        <p:txBody>
          <a:bodyPr wrap="square">
            <a:spAutoFit/>
          </a:bodyPr>
          <a:lstStyle/>
          <a:p>
            <a:pPr marL="351528" indent="-351528">
              <a:lnSpc>
                <a:spcPts val="1999"/>
              </a:lnSpc>
              <a:buSzPct val="100000"/>
              <a:buChar char="•"/>
            </a:pPr>
            <a:r>
              <a:rPr lang="en-US" sz="1955" dirty="0">
                <a:solidFill>
                  <a:srgbClr val="CFCBBF"/>
                </a:solidFill>
                <a:latin typeface="Times New Roman" panose="02020603050405020304" pitchFamily="18" charset="0"/>
                <a:cs typeface="Times New Roman" panose="02020603050405020304" pitchFamily="18" charset="0"/>
              </a:rPr>
              <a:t>Adventure Works operates in the manufacturing and retail domain, focusing on bicycles and bicycle-related components. The business handles end‑to‑end activities including production, sales, and distribution across multiple regions.</a:t>
            </a:r>
          </a:p>
        </p:txBody>
      </p:sp>
      <p:sp>
        <p:nvSpPr>
          <p:cNvPr id="9" name="TextBox 8">
            <a:extLst>
              <a:ext uri="{FF2B5EF4-FFF2-40B4-BE49-F238E27FC236}">
                <a16:creationId xmlns:a16="http://schemas.microsoft.com/office/drawing/2014/main" id="{989AF090-698C-760F-257D-9174833028E0}"/>
              </a:ext>
            </a:extLst>
          </p:cNvPr>
          <p:cNvSpPr txBox="1"/>
          <p:nvPr/>
        </p:nvSpPr>
        <p:spPr>
          <a:xfrm>
            <a:off x="2193693" y="3180900"/>
            <a:ext cx="7599222" cy="360542"/>
          </a:xfrm>
          <a:prstGeom prst="rect">
            <a:avLst/>
          </a:prstGeom>
          <a:noFill/>
        </p:spPr>
        <p:txBody>
          <a:bodyPr wrap="square">
            <a:spAutoFit/>
          </a:bodyPr>
          <a:lstStyle/>
          <a:p>
            <a:pPr>
              <a:lnSpc>
                <a:spcPts val="1948"/>
              </a:lnSpc>
            </a:pPr>
            <a:r>
              <a:rPr lang="en-US" sz="2737" dirty="0">
                <a:solidFill>
                  <a:srgbClr val="F2E782"/>
                </a:solidFill>
                <a:latin typeface="Times New Roman" panose="02020603050405020304" pitchFamily="18" charset="0"/>
                <a:cs typeface="Times New Roman" panose="02020603050405020304" pitchFamily="18" charset="0"/>
              </a:rPr>
              <a:t>Company Overview</a:t>
            </a:r>
          </a:p>
        </p:txBody>
      </p:sp>
      <p:sp>
        <p:nvSpPr>
          <p:cNvPr id="15" name="TextBox 14">
            <a:extLst>
              <a:ext uri="{FF2B5EF4-FFF2-40B4-BE49-F238E27FC236}">
                <a16:creationId xmlns:a16="http://schemas.microsoft.com/office/drawing/2014/main" id="{D05F5E64-BEDA-A1CA-B09D-90B9855E0FD5}"/>
              </a:ext>
            </a:extLst>
          </p:cNvPr>
          <p:cNvSpPr txBox="1"/>
          <p:nvPr/>
        </p:nvSpPr>
        <p:spPr>
          <a:xfrm>
            <a:off x="1831026" y="3580673"/>
            <a:ext cx="6142985" cy="1887696"/>
          </a:xfrm>
          <a:prstGeom prst="rect">
            <a:avLst/>
          </a:prstGeom>
          <a:noFill/>
        </p:spPr>
        <p:txBody>
          <a:bodyPr wrap="square">
            <a:spAutoFit/>
          </a:bodyPr>
          <a:lstStyle/>
          <a:p>
            <a:pPr marL="351528" indent="-351528">
              <a:lnSpc>
                <a:spcPts val="1999"/>
              </a:lnSpc>
              <a:buSzPct val="100000"/>
              <a:buChar char="•"/>
            </a:pPr>
            <a:r>
              <a:rPr lang="en-US" sz="1955" dirty="0">
                <a:solidFill>
                  <a:srgbClr val="CFCBBF"/>
                </a:solidFill>
                <a:latin typeface="Times New Roman" panose="02020603050405020304" pitchFamily="18" charset="0"/>
                <a:cs typeface="Times New Roman" panose="02020603050405020304" pitchFamily="18" charset="0"/>
              </a:rPr>
              <a:t>Adventure Works Cycles is a multinational manufacturing company with operations across North America, Europe, and Asia. The company manufactures metal and composite bicycles and distributes them through regional sales teams. Its core operations are based in Bothell, Washington, with additional manufacturing support from Mexico</a:t>
            </a:r>
            <a:r>
              <a:rPr lang="en-US" sz="1921" dirty="0"/>
              <a:t>.</a:t>
            </a:r>
            <a:endParaRPr lang="en-US" sz="1921" dirty="0">
              <a:solidFill>
                <a:srgbClr val="CFCBBF"/>
              </a:solidFill>
              <a:latin typeface="Raleway" pitchFamily="34" charset="0"/>
            </a:endParaRPr>
          </a:p>
        </p:txBody>
      </p:sp>
      <p:sp>
        <p:nvSpPr>
          <p:cNvPr id="17" name="TextBox 16">
            <a:extLst>
              <a:ext uri="{FF2B5EF4-FFF2-40B4-BE49-F238E27FC236}">
                <a16:creationId xmlns:a16="http://schemas.microsoft.com/office/drawing/2014/main" id="{A3C3F6A9-B748-3653-B512-2729508D24CC}"/>
              </a:ext>
            </a:extLst>
          </p:cNvPr>
          <p:cNvSpPr txBox="1"/>
          <p:nvPr/>
        </p:nvSpPr>
        <p:spPr>
          <a:xfrm>
            <a:off x="2193692" y="5572377"/>
            <a:ext cx="7666176" cy="360542"/>
          </a:xfrm>
          <a:prstGeom prst="rect">
            <a:avLst/>
          </a:prstGeom>
          <a:noFill/>
        </p:spPr>
        <p:txBody>
          <a:bodyPr wrap="square">
            <a:spAutoFit/>
          </a:bodyPr>
          <a:lstStyle/>
          <a:p>
            <a:pPr>
              <a:lnSpc>
                <a:spcPts val="1948"/>
              </a:lnSpc>
            </a:pPr>
            <a:r>
              <a:rPr lang="en-US" sz="2737" dirty="0">
                <a:solidFill>
                  <a:srgbClr val="F2E782"/>
                </a:solidFill>
                <a:latin typeface="Times New Roman" panose="02020603050405020304" pitchFamily="18" charset="0"/>
                <a:cs typeface="Times New Roman" panose="02020603050405020304" pitchFamily="18" charset="0"/>
              </a:rPr>
              <a:t>Goal of the Project</a:t>
            </a:r>
          </a:p>
        </p:txBody>
      </p:sp>
      <p:sp>
        <p:nvSpPr>
          <p:cNvPr id="19" name="TextBox 18">
            <a:extLst>
              <a:ext uri="{FF2B5EF4-FFF2-40B4-BE49-F238E27FC236}">
                <a16:creationId xmlns:a16="http://schemas.microsoft.com/office/drawing/2014/main" id="{838A9AAE-24F2-8580-6FFA-107D762EC067}"/>
              </a:ext>
            </a:extLst>
          </p:cNvPr>
          <p:cNvSpPr txBox="1"/>
          <p:nvPr/>
        </p:nvSpPr>
        <p:spPr>
          <a:xfrm>
            <a:off x="1831027" y="5952288"/>
            <a:ext cx="6142985" cy="1118255"/>
          </a:xfrm>
          <a:prstGeom prst="rect">
            <a:avLst/>
          </a:prstGeom>
          <a:noFill/>
        </p:spPr>
        <p:txBody>
          <a:bodyPr wrap="square">
            <a:spAutoFit/>
          </a:bodyPr>
          <a:lstStyle/>
          <a:p>
            <a:pPr marL="351528" indent="-351528">
              <a:lnSpc>
                <a:spcPts val="1999"/>
              </a:lnSpc>
              <a:buSzPct val="100000"/>
              <a:buChar char="•"/>
            </a:pPr>
            <a:r>
              <a:rPr lang="en-US" sz="1921" dirty="0">
                <a:solidFill>
                  <a:srgbClr val="CFCBBF"/>
                </a:solidFill>
                <a:latin typeface="Times New Roman" panose="02020603050405020304" pitchFamily="18" charset="0"/>
                <a:cs typeface="Times New Roman" panose="02020603050405020304" pitchFamily="18" charset="0"/>
              </a:rPr>
              <a:t>The main goal is to analyze sales and profit performance and convert raw data into actionable insights that help stakeholders understand trends, identify high‑performing segments, and improve business strategies.</a:t>
            </a:r>
          </a:p>
        </p:txBody>
      </p:sp>
      <p:sp>
        <p:nvSpPr>
          <p:cNvPr id="23" name="TextBox 22">
            <a:extLst>
              <a:ext uri="{FF2B5EF4-FFF2-40B4-BE49-F238E27FC236}">
                <a16:creationId xmlns:a16="http://schemas.microsoft.com/office/drawing/2014/main" id="{BAF8DB28-3A08-C1D4-E69A-F8A68243CFA8}"/>
              </a:ext>
            </a:extLst>
          </p:cNvPr>
          <p:cNvSpPr txBox="1"/>
          <p:nvPr/>
        </p:nvSpPr>
        <p:spPr>
          <a:xfrm>
            <a:off x="8993097" y="1384659"/>
            <a:ext cx="8519835" cy="360542"/>
          </a:xfrm>
          <a:prstGeom prst="rect">
            <a:avLst/>
          </a:prstGeom>
          <a:noFill/>
        </p:spPr>
        <p:txBody>
          <a:bodyPr wrap="square">
            <a:spAutoFit/>
          </a:bodyPr>
          <a:lstStyle/>
          <a:p>
            <a:pPr>
              <a:lnSpc>
                <a:spcPts val="1948"/>
              </a:lnSpc>
            </a:pPr>
            <a:r>
              <a:rPr lang="en-US" sz="2737" dirty="0">
                <a:solidFill>
                  <a:srgbClr val="F2E782"/>
                </a:solidFill>
                <a:latin typeface="Times New Roman" panose="02020603050405020304" pitchFamily="18" charset="0"/>
                <a:cs typeface="Times New Roman" panose="02020603050405020304" pitchFamily="18" charset="0"/>
              </a:rPr>
              <a:t>Problem Statement</a:t>
            </a:r>
          </a:p>
        </p:txBody>
      </p:sp>
      <p:sp>
        <p:nvSpPr>
          <p:cNvPr id="25" name="TextBox 24">
            <a:extLst>
              <a:ext uri="{FF2B5EF4-FFF2-40B4-BE49-F238E27FC236}">
                <a16:creationId xmlns:a16="http://schemas.microsoft.com/office/drawing/2014/main" id="{BAF8AAC8-748E-7CAB-538C-5A87E5F770B1}"/>
              </a:ext>
            </a:extLst>
          </p:cNvPr>
          <p:cNvSpPr txBox="1"/>
          <p:nvPr/>
        </p:nvSpPr>
        <p:spPr>
          <a:xfrm>
            <a:off x="8993097" y="1822712"/>
            <a:ext cx="5629676" cy="1631216"/>
          </a:xfrm>
          <a:prstGeom prst="rect">
            <a:avLst/>
          </a:prstGeom>
          <a:noFill/>
        </p:spPr>
        <p:txBody>
          <a:bodyPr wrap="square">
            <a:spAutoFit/>
          </a:bodyPr>
          <a:lstStyle/>
          <a:p>
            <a:pPr>
              <a:lnSpc>
                <a:spcPts val="1999"/>
              </a:lnSpc>
            </a:pPr>
            <a:r>
              <a:rPr lang="en-US" sz="1921" dirty="0">
                <a:solidFill>
                  <a:srgbClr val="CFCBBF"/>
                </a:solidFill>
                <a:latin typeface="Raleway" pitchFamily="34" charset="0"/>
              </a:rPr>
              <a:t>Although Adventure Works has achieved consistent sales, the business lacks a centralized analytical view to track performance across time, products, customers, and regions. Decision‑making was heavily dependent on raw data without clear insights</a:t>
            </a:r>
            <a:r>
              <a:rPr lang="en-US" sz="1921" dirty="0"/>
              <a:t>.</a:t>
            </a:r>
          </a:p>
        </p:txBody>
      </p:sp>
      <p:pic>
        <p:nvPicPr>
          <p:cNvPr id="28" name="Image 0" descr="preencoded.png">
            <a:extLst>
              <a:ext uri="{FF2B5EF4-FFF2-40B4-BE49-F238E27FC236}">
                <a16:creationId xmlns:a16="http://schemas.microsoft.com/office/drawing/2014/main" id="{6FCC6046-0474-1BF2-3A70-AE85C204D3D1}"/>
              </a:ext>
            </a:extLst>
          </p:cNvPr>
          <p:cNvPicPr>
            <a:picLocks noChangeAspect="1"/>
          </p:cNvPicPr>
          <p:nvPr/>
        </p:nvPicPr>
        <p:blipFill>
          <a:blip r:embed="rId2"/>
          <a:stretch>
            <a:fillRect/>
          </a:stretch>
        </p:blipFill>
        <p:spPr>
          <a:xfrm>
            <a:off x="9294250" y="3941762"/>
            <a:ext cx="5027367" cy="3160572"/>
          </a:xfrm>
          <a:prstGeom prst="rect">
            <a:avLst/>
          </a:prstGeom>
        </p:spPr>
      </p:pic>
    </p:spTree>
    <p:extLst>
      <p:ext uri="{BB962C8B-B14F-4D97-AF65-F5344CB8AC3E}">
        <p14:creationId xmlns:p14="http://schemas.microsoft.com/office/powerpoint/2010/main" val="844983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F5F8FC-4A58-FD1B-962B-AE2613246D1D}"/>
              </a:ext>
            </a:extLst>
          </p:cNvPr>
          <p:cNvSpPr txBox="1"/>
          <p:nvPr/>
        </p:nvSpPr>
        <p:spPr>
          <a:xfrm>
            <a:off x="2143051" y="696338"/>
            <a:ext cx="6461012" cy="643766"/>
          </a:xfrm>
          <a:prstGeom prst="rect">
            <a:avLst/>
          </a:prstGeom>
          <a:noFill/>
        </p:spPr>
        <p:txBody>
          <a:bodyPr wrap="square">
            <a:spAutoFit/>
          </a:bodyPr>
          <a:lstStyle/>
          <a:p>
            <a:pPr>
              <a:lnSpc>
                <a:spcPts val="4255"/>
              </a:lnSpc>
            </a:pPr>
            <a:r>
              <a:rPr lang="en-US" sz="369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Data Overview</a:t>
            </a:r>
          </a:p>
        </p:txBody>
      </p:sp>
      <p:sp>
        <p:nvSpPr>
          <p:cNvPr id="15" name="TextBox 14">
            <a:extLst>
              <a:ext uri="{FF2B5EF4-FFF2-40B4-BE49-F238E27FC236}">
                <a16:creationId xmlns:a16="http://schemas.microsoft.com/office/drawing/2014/main" id="{CCC3C57F-4B51-C0DE-CA4D-E050F900A52A}"/>
              </a:ext>
            </a:extLst>
          </p:cNvPr>
          <p:cNvSpPr txBox="1"/>
          <p:nvPr/>
        </p:nvSpPr>
        <p:spPr>
          <a:xfrm>
            <a:off x="2333614" y="1494694"/>
            <a:ext cx="2665455" cy="746909"/>
          </a:xfrm>
          <a:prstGeom prst="rect">
            <a:avLst/>
          </a:prstGeom>
          <a:noFill/>
        </p:spPr>
        <p:txBody>
          <a:bodyPr wrap="square" rtlCol="0">
            <a:spAutoFit/>
          </a:bodyPr>
          <a:lstStyle/>
          <a:p>
            <a:r>
              <a:rPr lang="en-US" sz="2346" dirty="0">
                <a:solidFill>
                  <a:srgbClr val="CFCBBF"/>
                </a:solidFill>
                <a:latin typeface="Times New Roman" panose="02020603050405020304" pitchFamily="18" charset="0"/>
                <a:ea typeface="Prata" pitchFamily="34" charset="-122"/>
                <a:cs typeface="Times New Roman" panose="02020603050405020304" pitchFamily="18" charset="0"/>
              </a:rPr>
              <a:t>Source &amp; Format</a:t>
            </a:r>
            <a:endParaRPr lang="en-US" sz="2346" dirty="0">
              <a:latin typeface="Times New Roman" panose="02020603050405020304" pitchFamily="18" charset="0"/>
              <a:cs typeface="Times New Roman" panose="02020603050405020304" pitchFamily="18" charset="0"/>
            </a:endParaRPr>
          </a:p>
          <a:p>
            <a:endParaRPr lang="en-IN" sz="1921" dirty="0"/>
          </a:p>
        </p:txBody>
      </p:sp>
      <p:sp>
        <p:nvSpPr>
          <p:cNvPr id="21" name="TextBox 20">
            <a:extLst>
              <a:ext uri="{FF2B5EF4-FFF2-40B4-BE49-F238E27FC236}">
                <a16:creationId xmlns:a16="http://schemas.microsoft.com/office/drawing/2014/main" id="{835ADE89-DDFE-AB95-6B62-183911DF4410}"/>
              </a:ext>
            </a:extLst>
          </p:cNvPr>
          <p:cNvSpPr txBox="1"/>
          <p:nvPr/>
        </p:nvSpPr>
        <p:spPr>
          <a:xfrm>
            <a:off x="2333615" y="2051543"/>
            <a:ext cx="7677337" cy="656590"/>
          </a:xfrm>
          <a:prstGeom prst="rect">
            <a:avLst/>
          </a:prstGeom>
          <a:noFill/>
        </p:spPr>
        <p:txBody>
          <a:bodyPr wrap="square">
            <a:spAutoFit/>
          </a:bodyPr>
          <a:lstStyle/>
          <a:p>
            <a:pPr>
              <a:lnSpc>
                <a:spcPts val="2153"/>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Data provided in </a:t>
            </a:r>
            <a:r>
              <a:rPr lang="en-US" sz="1955" b="1" dirty="0">
                <a:solidFill>
                  <a:srgbClr val="CFCBBF"/>
                </a:solidFill>
                <a:latin typeface="Times New Roman" panose="02020603050405020304" pitchFamily="18" charset="0"/>
                <a:ea typeface="Raleway" pitchFamily="34" charset="-122"/>
                <a:cs typeface="Times New Roman" panose="02020603050405020304" pitchFamily="18" charset="0"/>
              </a:rPr>
              <a:t>Excel format</a:t>
            </a: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 comprising multiple fact and dimension tables crucial for comprehensive analysis.</a:t>
            </a:r>
            <a:endParaRPr lang="en-US" sz="1955"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9" name="Ink 28">
                <a:extLst>
                  <a:ext uri="{FF2B5EF4-FFF2-40B4-BE49-F238E27FC236}">
                    <a16:creationId xmlns:a16="http://schemas.microsoft.com/office/drawing/2014/main" id="{CCAFE546-8269-7572-C445-FF1A7AEA437D}"/>
                  </a:ext>
                </a:extLst>
              </p14:cNvPr>
              <p14:cNvContentPartPr/>
              <p14:nvPr/>
            </p14:nvContentPartPr>
            <p14:xfrm>
              <a:off x="2267866" y="1808065"/>
              <a:ext cx="20297" cy="1197150"/>
            </p14:xfrm>
          </p:contentPart>
        </mc:Choice>
        <mc:Fallback xmlns="">
          <p:pic>
            <p:nvPicPr>
              <p:cNvPr id="29" name="Ink 28">
                <a:extLst>
                  <a:ext uri="{FF2B5EF4-FFF2-40B4-BE49-F238E27FC236}">
                    <a16:creationId xmlns:a16="http://schemas.microsoft.com/office/drawing/2014/main" id="{CCAFE546-8269-7572-C445-FF1A7AEA437D}"/>
                  </a:ext>
                </a:extLst>
              </p:cNvPr>
              <p:cNvPicPr/>
              <p:nvPr/>
            </p:nvPicPr>
            <p:blipFill>
              <a:blip r:embed="rId3"/>
              <a:stretch>
                <a:fillRect/>
              </a:stretch>
            </p:blipFill>
            <p:spPr>
              <a:xfrm>
                <a:off x="2196648" y="1664047"/>
                <a:ext cx="162376" cy="148482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1" name="Ink 30">
                <a:extLst>
                  <a:ext uri="{FF2B5EF4-FFF2-40B4-BE49-F238E27FC236}">
                    <a16:creationId xmlns:a16="http://schemas.microsoft.com/office/drawing/2014/main" id="{F13631AF-6FD0-D358-5C8F-DBCF3F21869E}"/>
                  </a:ext>
                </a:extLst>
              </p14:cNvPr>
              <p14:cNvContentPartPr/>
              <p14:nvPr/>
            </p14:nvContentPartPr>
            <p14:xfrm>
              <a:off x="2239455" y="2387887"/>
              <a:ext cx="10333" cy="918160"/>
            </p14:xfrm>
          </p:contentPart>
        </mc:Choice>
        <mc:Fallback xmlns="">
          <p:pic>
            <p:nvPicPr>
              <p:cNvPr id="31" name="Ink 30">
                <a:extLst>
                  <a:ext uri="{FF2B5EF4-FFF2-40B4-BE49-F238E27FC236}">
                    <a16:creationId xmlns:a16="http://schemas.microsoft.com/office/drawing/2014/main" id="{F13631AF-6FD0-D358-5C8F-DBCF3F21869E}"/>
                  </a:ext>
                </a:extLst>
              </p:cNvPr>
              <p:cNvPicPr/>
              <p:nvPr/>
            </p:nvPicPr>
            <p:blipFill>
              <a:blip r:embed="rId5"/>
              <a:stretch>
                <a:fillRect/>
              </a:stretch>
            </p:blipFill>
            <p:spPr>
              <a:xfrm>
                <a:off x="2165648" y="2243862"/>
                <a:ext cx="157578" cy="1205850"/>
              </a:xfrm>
              <a:prstGeom prst="rect">
                <a:avLst/>
              </a:prstGeom>
            </p:spPr>
          </p:pic>
        </mc:Fallback>
      </mc:AlternateContent>
      <p:pic>
        <p:nvPicPr>
          <p:cNvPr id="35" name="Image 1" descr="preencoded.png">
            <a:extLst>
              <a:ext uri="{FF2B5EF4-FFF2-40B4-BE49-F238E27FC236}">
                <a16:creationId xmlns:a16="http://schemas.microsoft.com/office/drawing/2014/main" id="{827CF497-7834-EB54-010D-F86FCA858648}"/>
              </a:ext>
            </a:extLst>
          </p:cNvPr>
          <p:cNvPicPr>
            <a:picLocks noChangeAspect="1"/>
          </p:cNvPicPr>
          <p:nvPr/>
        </p:nvPicPr>
        <p:blipFill>
          <a:blip r:embed="rId6"/>
          <a:stretch>
            <a:fillRect/>
          </a:stretch>
        </p:blipFill>
        <p:spPr>
          <a:xfrm>
            <a:off x="2150407" y="2997197"/>
            <a:ext cx="145241" cy="1357795"/>
          </a:xfrm>
          <a:prstGeom prst="rect">
            <a:avLst/>
          </a:prstGeom>
        </p:spPr>
      </p:pic>
      <p:sp>
        <p:nvSpPr>
          <p:cNvPr id="36" name="Rectangle 35">
            <a:extLst>
              <a:ext uri="{FF2B5EF4-FFF2-40B4-BE49-F238E27FC236}">
                <a16:creationId xmlns:a16="http://schemas.microsoft.com/office/drawing/2014/main" id="{A0A1CA78-2BB2-05D2-6F6B-08C8423C26A5}"/>
              </a:ext>
            </a:extLst>
          </p:cNvPr>
          <p:cNvSpPr>
            <a:spLocks noChangeAspect="1"/>
          </p:cNvSpPr>
          <p:nvPr/>
        </p:nvSpPr>
        <p:spPr>
          <a:xfrm>
            <a:off x="2269855" y="3006008"/>
            <a:ext cx="8858317" cy="1291627"/>
          </a:xfrm>
          <a:prstGeom prst="rect">
            <a:avLst/>
          </a:prstGeom>
          <a:noFill/>
          <a:ln w="63500">
            <a:solidFill>
              <a:srgbClr val="FFC000"/>
            </a:solidFill>
          </a:ln>
          <a:effectLst>
            <a:outerShdw sx="1000" sy="1000" algn="ctr" rotWithShape="0">
              <a:srgbClr val="000000"/>
            </a:outerShdw>
            <a:reflection endPos="2000" dir="5400000" sy="-100000" algn="bl" rotWithShape="0"/>
            <a:softEdge rad="25400"/>
          </a:effectLst>
        </p:spPr>
        <p:style>
          <a:lnRef idx="2">
            <a:schemeClr val="accent1">
              <a:shade val="15000"/>
            </a:schemeClr>
          </a:lnRef>
          <a:fillRef idx="1">
            <a:schemeClr val="accent1"/>
          </a:fillRef>
          <a:effectRef idx="0">
            <a:schemeClr val="accent1"/>
          </a:effectRef>
          <a:fontRef idx="minor">
            <a:schemeClr val="lt1"/>
          </a:fontRef>
        </p:style>
        <p:txBody>
          <a:bodyPr lIns="295228" rtlCol="0" anchor="ctr"/>
          <a:lstStyle/>
          <a:p>
            <a:pPr algn="ctr"/>
            <a:endParaRPr lang="en-IN" sz="1921" dirty="0">
              <a:highlight>
                <a:srgbClr val="FFFF00"/>
              </a:highlight>
            </a:endParaRPr>
          </a:p>
        </p:txBody>
      </p:sp>
      <p:sp>
        <p:nvSpPr>
          <p:cNvPr id="4" name="Rectangle 3">
            <a:extLst>
              <a:ext uri="{FF2B5EF4-FFF2-40B4-BE49-F238E27FC236}">
                <a16:creationId xmlns:a16="http://schemas.microsoft.com/office/drawing/2014/main" id="{D4115C3B-969E-0CFC-CC1F-47EB94D64D9C}"/>
              </a:ext>
            </a:extLst>
          </p:cNvPr>
          <p:cNvSpPr/>
          <p:nvPr/>
        </p:nvSpPr>
        <p:spPr>
          <a:xfrm>
            <a:off x="2286407" y="1438116"/>
            <a:ext cx="8858317" cy="1272669"/>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921"/>
          </a:p>
        </p:txBody>
      </p:sp>
      <p:pic>
        <p:nvPicPr>
          <p:cNvPr id="5" name="Image 1" descr="preencoded.png">
            <a:extLst>
              <a:ext uri="{FF2B5EF4-FFF2-40B4-BE49-F238E27FC236}">
                <a16:creationId xmlns:a16="http://schemas.microsoft.com/office/drawing/2014/main" id="{D0F72882-7BC4-3037-890B-FB25F21DEF62}"/>
              </a:ext>
            </a:extLst>
          </p:cNvPr>
          <p:cNvPicPr>
            <a:picLocks noChangeAspect="1"/>
          </p:cNvPicPr>
          <p:nvPr/>
        </p:nvPicPr>
        <p:blipFill>
          <a:blip r:embed="rId6"/>
          <a:stretch>
            <a:fillRect/>
          </a:stretch>
        </p:blipFill>
        <p:spPr>
          <a:xfrm>
            <a:off x="2190261" y="1416719"/>
            <a:ext cx="143354" cy="1340166"/>
          </a:xfrm>
          <a:prstGeom prst="rect">
            <a:avLst/>
          </a:prstGeom>
        </p:spPr>
      </p:pic>
      <p:sp>
        <p:nvSpPr>
          <p:cNvPr id="7" name="TextBox 6">
            <a:extLst>
              <a:ext uri="{FF2B5EF4-FFF2-40B4-BE49-F238E27FC236}">
                <a16:creationId xmlns:a16="http://schemas.microsoft.com/office/drawing/2014/main" id="{7BB3D033-A2A7-7CD3-23B7-10908F97A2A3}"/>
              </a:ext>
            </a:extLst>
          </p:cNvPr>
          <p:cNvSpPr txBox="1"/>
          <p:nvPr/>
        </p:nvSpPr>
        <p:spPr>
          <a:xfrm>
            <a:off x="2408018" y="3156231"/>
            <a:ext cx="6085768" cy="364843"/>
          </a:xfrm>
          <a:prstGeom prst="rect">
            <a:avLst/>
          </a:prstGeom>
          <a:noFill/>
        </p:spPr>
        <p:txBody>
          <a:bodyPr wrap="square">
            <a:spAutoFit/>
          </a:bodyPr>
          <a:lstStyle/>
          <a:p>
            <a:pPr>
              <a:lnSpc>
                <a:spcPts val="2102"/>
              </a:lnSpc>
            </a:pPr>
            <a:r>
              <a:rPr lang="en-US" sz="2346" dirty="0">
                <a:solidFill>
                  <a:srgbClr val="CFCBBF"/>
                </a:solidFill>
                <a:latin typeface="Times New Roman" panose="02020603050405020304" pitchFamily="18" charset="0"/>
                <a:ea typeface="Prata" pitchFamily="34" charset="-122"/>
                <a:cs typeface="Times New Roman" panose="02020603050405020304" pitchFamily="18" charset="0"/>
              </a:rPr>
              <a:t>Key Data Files</a:t>
            </a:r>
            <a:endParaRPr lang="en-US" sz="2346"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FD6143E-8591-A6CE-FB2A-85B6B90F8272}"/>
              </a:ext>
            </a:extLst>
          </p:cNvPr>
          <p:cNvSpPr txBox="1"/>
          <p:nvPr/>
        </p:nvSpPr>
        <p:spPr>
          <a:xfrm>
            <a:off x="2231480" y="3608470"/>
            <a:ext cx="7186345" cy="374461"/>
          </a:xfrm>
          <a:prstGeom prst="rect">
            <a:avLst/>
          </a:prstGeom>
          <a:noFill/>
        </p:spPr>
        <p:txBody>
          <a:bodyPr wrap="square">
            <a:spAutoFit/>
          </a:bodyPr>
          <a:lstStyle/>
          <a:p>
            <a:pPr marL="351528" indent="-351528">
              <a:lnSpc>
                <a:spcPts val="2153"/>
              </a:lnSpc>
              <a:buSzPct val="100000"/>
              <a:buChar char="•"/>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Fact Tables: Fact Internet Sales, Fact Internet Sales_ New</a:t>
            </a:r>
            <a:endParaRPr lang="en-US" sz="1955"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4D15814-CB09-A505-4ED0-0C367DC438C4}"/>
              </a:ext>
            </a:extLst>
          </p:cNvPr>
          <p:cNvSpPr txBox="1"/>
          <p:nvPr/>
        </p:nvSpPr>
        <p:spPr>
          <a:xfrm>
            <a:off x="2213404" y="3970297"/>
            <a:ext cx="8689498" cy="374461"/>
          </a:xfrm>
          <a:prstGeom prst="rect">
            <a:avLst/>
          </a:prstGeom>
          <a:noFill/>
        </p:spPr>
        <p:txBody>
          <a:bodyPr wrap="square">
            <a:spAutoFit/>
          </a:bodyPr>
          <a:lstStyle/>
          <a:p>
            <a:pPr marL="351528" indent="-351528">
              <a:lnSpc>
                <a:spcPts val="2153"/>
              </a:lnSpc>
              <a:buSzPct val="100000"/>
              <a:buChar char="•"/>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Dimension Tables: Dim Product, Dim Customer, Dim Date, Dim Sales Territory</a:t>
            </a:r>
            <a:endParaRPr lang="en-US" sz="1955"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A4A7B306-3B23-7AE5-65C5-06F74707B04F}"/>
              </a:ext>
            </a:extLst>
          </p:cNvPr>
          <p:cNvSpPr/>
          <p:nvPr/>
        </p:nvSpPr>
        <p:spPr>
          <a:xfrm>
            <a:off x="2213403" y="4584048"/>
            <a:ext cx="8858317" cy="1071395"/>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200"/>
          </a:p>
        </p:txBody>
      </p:sp>
      <p:pic>
        <p:nvPicPr>
          <p:cNvPr id="13" name="Image 1" descr="preencoded.png">
            <a:extLst>
              <a:ext uri="{FF2B5EF4-FFF2-40B4-BE49-F238E27FC236}">
                <a16:creationId xmlns:a16="http://schemas.microsoft.com/office/drawing/2014/main" id="{9BA2854E-240E-6BE7-5BBD-754CA5082BEB}"/>
              </a:ext>
            </a:extLst>
          </p:cNvPr>
          <p:cNvPicPr>
            <a:picLocks noChangeAspect="1"/>
          </p:cNvPicPr>
          <p:nvPr/>
        </p:nvPicPr>
        <p:blipFill>
          <a:blip r:embed="rId6"/>
          <a:stretch>
            <a:fillRect/>
          </a:stretch>
        </p:blipFill>
        <p:spPr>
          <a:xfrm>
            <a:off x="2143051" y="4578610"/>
            <a:ext cx="145111" cy="1111973"/>
          </a:xfrm>
          <a:prstGeom prst="rect">
            <a:avLst/>
          </a:prstGeom>
        </p:spPr>
      </p:pic>
      <p:sp>
        <p:nvSpPr>
          <p:cNvPr id="16" name="TextBox 15">
            <a:extLst>
              <a:ext uri="{FF2B5EF4-FFF2-40B4-BE49-F238E27FC236}">
                <a16:creationId xmlns:a16="http://schemas.microsoft.com/office/drawing/2014/main" id="{8710118F-F3CB-7F10-F881-A2B2A6463827}"/>
              </a:ext>
            </a:extLst>
          </p:cNvPr>
          <p:cNvSpPr txBox="1"/>
          <p:nvPr/>
        </p:nvSpPr>
        <p:spPr>
          <a:xfrm>
            <a:off x="2278014" y="4681854"/>
            <a:ext cx="7039305" cy="355225"/>
          </a:xfrm>
          <a:prstGeom prst="rect">
            <a:avLst/>
          </a:prstGeom>
          <a:noFill/>
        </p:spPr>
        <p:txBody>
          <a:bodyPr wrap="square">
            <a:spAutoFit/>
          </a:bodyPr>
          <a:lstStyle/>
          <a:p>
            <a:pPr>
              <a:lnSpc>
                <a:spcPts val="2004"/>
              </a:lnSpc>
            </a:pPr>
            <a:r>
              <a:rPr lang="en-US" sz="2346" dirty="0">
                <a:solidFill>
                  <a:srgbClr val="CFCBBF"/>
                </a:solidFill>
                <a:latin typeface="Times New Roman" panose="02020603050405020304" pitchFamily="18" charset="0"/>
                <a:ea typeface="Prata" pitchFamily="34" charset="-122"/>
                <a:cs typeface="Times New Roman" panose="02020603050405020304" pitchFamily="18" charset="0"/>
              </a:rPr>
              <a:t>Timeline &amp; Volume</a:t>
            </a:r>
            <a:endParaRPr lang="en-US" sz="2346"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462EC3B0-C6FB-EA29-7F35-E97B877D284B}"/>
              </a:ext>
            </a:extLst>
          </p:cNvPr>
          <p:cNvSpPr txBox="1"/>
          <p:nvPr/>
        </p:nvSpPr>
        <p:spPr>
          <a:xfrm>
            <a:off x="2323651" y="4980822"/>
            <a:ext cx="7039305" cy="692000"/>
          </a:xfrm>
          <a:prstGeom prst="rect">
            <a:avLst/>
          </a:prstGeom>
          <a:noFill/>
        </p:spPr>
        <p:txBody>
          <a:bodyPr wrap="square">
            <a:spAutoFit/>
          </a:bodyPr>
          <a:lstStyle/>
          <a:p>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Covers sales and profit data from </a:t>
            </a:r>
            <a:r>
              <a:rPr lang="en-US" sz="1955" b="1" dirty="0">
                <a:solidFill>
                  <a:srgbClr val="CFCBBF"/>
                </a:solidFill>
                <a:latin typeface="Times New Roman" panose="02020603050405020304" pitchFamily="18" charset="0"/>
                <a:ea typeface="Raleway" pitchFamily="34" charset="-122"/>
                <a:cs typeface="Times New Roman" panose="02020603050405020304" pitchFamily="18" charset="0"/>
              </a:rPr>
              <a:t>2010 to 2014</a:t>
            </a: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 including Sixty thousands of transactional records</a:t>
            </a:r>
            <a:endParaRPr lang="en-IN" sz="1955" dirty="0">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F94C526A-4925-0CD2-AE35-4FCD290DDCED}"/>
              </a:ext>
            </a:extLst>
          </p:cNvPr>
          <p:cNvSpPr/>
          <p:nvPr/>
        </p:nvSpPr>
        <p:spPr>
          <a:xfrm>
            <a:off x="2261938" y="5995163"/>
            <a:ext cx="8863687" cy="1157264"/>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200"/>
          </a:p>
        </p:txBody>
      </p:sp>
      <p:pic>
        <p:nvPicPr>
          <p:cNvPr id="22" name="Image 1" descr="preencoded.png">
            <a:extLst>
              <a:ext uri="{FF2B5EF4-FFF2-40B4-BE49-F238E27FC236}">
                <a16:creationId xmlns:a16="http://schemas.microsoft.com/office/drawing/2014/main" id="{66EB6DA6-C7F7-E627-EDA5-F517FA3373B7}"/>
              </a:ext>
            </a:extLst>
          </p:cNvPr>
          <p:cNvPicPr>
            <a:picLocks noChangeAspect="1"/>
          </p:cNvPicPr>
          <p:nvPr/>
        </p:nvPicPr>
        <p:blipFill>
          <a:blip r:embed="rId6"/>
          <a:stretch>
            <a:fillRect/>
          </a:stretch>
        </p:blipFill>
        <p:spPr>
          <a:xfrm>
            <a:off x="2157746" y="5985807"/>
            <a:ext cx="137901" cy="1201380"/>
          </a:xfrm>
          <a:prstGeom prst="rect">
            <a:avLst/>
          </a:prstGeom>
        </p:spPr>
      </p:pic>
      <p:sp>
        <p:nvSpPr>
          <p:cNvPr id="24" name="TextBox 23">
            <a:extLst>
              <a:ext uri="{FF2B5EF4-FFF2-40B4-BE49-F238E27FC236}">
                <a16:creationId xmlns:a16="http://schemas.microsoft.com/office/drawing/2014/main" id="{24CD707C-F8F2-CD46-1287-F4F05631D7AC}"/>
              </a:ext>
            </a:extLst>
          </p:cNvPr>
          <p:cNvSpPr txBox="1"/>
          <p:nvPr/>
        </p:nvSpPr>
        <p:spPr>
          <a:xfrm>
            <a:off x="2333614" y="6029652"/>
            <a:ext cx="7039305" cy="355225"/>
          </a:xfrm>
          <a:prstGeom prst="rect">
            <a:avLst/>
          </a:prstGeom>
          <a:noFill/>
        </p:spPr>
        <p:txBody>
          <a:bodyPr wrap="square">
            <a:spAutoFit/>
          </a:bodyPr>
          <a:lstStyle/>
          <a:p>
            <a:pPr>
              <a:lnSpc>
                <a:spcPts val="2004"/>
              </a:lnSpc>
            </a:pPr>
            <a:r>
              <a:rPr lang="en-US" sz="2346" dirty="0">
                <a:solidFill>
                  <a:srgbClr val="CFCBBF"/>
                </a:solidFill>
                <a:latin typeface="Times New Roman" panose="02020603050405020304" pitchFamily="18" charset="0"/>
                <a:ea typeface="Prata" pitchFamily="34" charset="-122"/>
                <a:cs typeface="Times New Roman" panose="02020603050405020304" pitchFamily="18" charset="0"/>
              </a:rPr>
              <a:t>Core Metrics</a:t>
            </a:r>
            <a:endParaRPr lang="en-US" sz="2346"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B5CC4F1C-A2AE-3238-E52E-03937E010671}"/>
              </a:ext>
            </a:extLst>
          </p:cNvPr>
          <p:cNvSpPr txBox="1"/>
          <p:nvPr/>
        </p:nvSpPr>
        <p:spPr>
          <a:xfrm>
            <a:off x="2333614" y="6334883"/>
            <a:ext cx="7039305" cy="630942"/>
          </a:xfrm>
          <a:prstGeom prst="rect">
            <a:avLst/>
          </a:prstGeom>
          <a:noFill/>
        </p:spPr>
        <p:txBody>
          <a:bodyPr wrap="square">
            <a:spAutoFit/>
          </a:bodyPr>
          <a:lstStyle/>
          <a:p>
            <a:pPr>
              <a:lnSpc>
                <a:spcPts val="2053"/>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Key columns include Order Date, Sales Amount, Production Cost, Profit, and Category, Sub Category Customer, and region data.</a:t>
            </a:r>
            <a:endParaRPr lang="en-US" sz="195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079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9E73F5-CCF4-841D-5228-4515339F1A7B}"/>
              </a:ext>
            </a:extLst>
          </p:cNvPr>
          <p:cNvSpPr txBox="1"/>
          <p:nvPr/>
        </p:nvSpPr>
        <p:spPr>
          <a:xfrm>
            <a:off x="1805842" y="1104935"/>
            <a:ext cx="11902717" cy="792290"/>
          </a:xfrm>
          <a:prstGeom prst="rect">
            <a:avLst/>
          </a:prstGeom>
          <a:noFill/>
        </p:spPr>
        <p:txBody>
          <a:bodyPr wrap="square">
            <a:spAutoFit/>
          </a:bodyPr>
          <a:lstStyle/>
          <a:p>
            <a:pPr>
              <a:lnSpc>
                <a:spcPts val="5426"/>
              </a:lnSpc>
            </a:pPr>
            <a:r>
              <a:rPr lang="en-US" sz="4692"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O</a:t>
            </a:r>
            <a:r>
              <a:rPr lang="en-US" sz="4301"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bjectives: </a:t>
            </a:r>
            <a:r>
              <a:rPr lang="en-US" sz="4692"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W</a:t>
            </a:r>
            <a:r>
              <a:rPr lang="en-US" sz="4301"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hat We Aimed to Discover</a:t>
            </a:r>
          </a:p>
        </p:txBody>
      </p:sp>
      <p:sp>
        <p:nvSpPr>
          <p:cNvPr id="4" name="TextBox 3">
            <a:extLst>
              <a:ext uri="{FF2B5EF4-FFF2-40B4-BE49-F238E27FC236}">
                <a16:creationId xmlns:a16="http://schemas.microsoft.com/office/drawing/2014/main" id="{D310063D-5C37-3872-1CF8-8731CAD08F52}"/>
              </a:ext>
            </a:extLst>
          </p:cNvPr>
          <p:cNvSpPr txBox="1"/>
          <p:nvPr/>
        </p:nvSpPr>
        <p:spPr>
          <a:xfrm>
            <a:off x="1805842" y="1928247"/>
            <a:ext cx="12161473" cy="1534435"/>
          </a:xfrm>
          <a:prstGeom prst="rect">
            <a:avLst/>
          </a:prstGeom>
          <a:noFill/>
        </p:spPr>
        <p:txBody>
          <a:bodyPr wrap="square">
            <a:spAutoFit/>
          </a:bodyPr>
          <a:lstStyle/>
          <a:p>
            <a:r>
              <a:rPr lang="en-US" sz="2346" dirty="0">
                <a:solidFill>
                  <a:srgbClr val="CFCBBF"/>
                </a:solidFill>
                <a:latin typeface="Times New Roman" panose="02020603050405020304" pitchFamily="18" charset="0"/>
                <a:cs typeface="Times New Roman" panose="02020603050405020304" pitchFamily="18" charset="0"/>
              </a:rPr>
              <a:t>Our analysis was designed based on client requirements, with a focus on understanding business performance, identifying growth opportunities, and supporting data-driven decision-making.</a:t>
            </a:r>
          </a:p>
          <a:p>
            <a:r>
              <a:rPr lang="en-US" sz="2346" dirty="0">
                <a:solidFill>
                  <a:srgbClr val="CFCBBF"/>
                </a:solidFill>
                <a:latin typeface="Times New Roman" panose="02020603050405020304" pitchFamily="18" charset="0"/>
                <a:cs typeface="Times New Roman" panose="02020603050405020304" pitchFamily="18" charset="0"/>
              </a:rPr>
              <a:t>The main goal of this project is to convert raw data into meaningful insights that help stakeholders clearly understand sales, profit, and customer behavior</a:t>
            </a:r>
            <a:r>
              <a:rPr lang="en-US" sz="2346" dirty="0">
                <a:latin typeface="Times New Roman" panose="02020603050405020304" pitchFamily="18" charset="0"/>
                <a:cs typeface="Times New Roman" panose="02020603050405020304" pitchFamily="18" charset="0"/>
              </a:rPr>
              <a:t>.</a:t>
            </a:r>
            <a:r>
              <a:rPr lang="en-US" sz="2346" dirty="0">
                <a:solidFill>
                  <a:srgbClr val="CFCBBF"/>
                </a:solidFill>
                <a:latin typeface="Times New Roman" panose="02020603050405020304" pitchFamily="18" charset="0"/>
                <a:ea typeface="Raleway" pitchFamily="34" charset="-122"/>
                <a:cs typeface="Times New Roman" panose="02020603050405020304" pitchFamily="18" charset="0"/>
              </a:rPr>
              <a:t>.</a:t>
            </a:r>
            <a:endParaRPr lang="en-US" sz="2346"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E5291E4-E0B8-BC9F-A940-2A9A87D4B578}"/>
              </a:ext>
            </a:extLst>
          </p:cNvPr>
          <p:cNvSpPr txBox="1"/>
          <p:nvPr/>
        </p:nvSpPr>
        <p:spPr>
          <a:xfrm>
            <a:off x="2262908" y="3941761"/>
            <a:ext cx="4585995" cy="506277"/>
          </a:xfrm>
          <a:prstGeom prst="rect">
            <a:avLst/>
          </a:prstGeom>
          <a:noFill/>
        </p:spPr>
        <p:txBody>
          <a:bodyPr wrap="square">
            <a:spAutoFit/>
          </a:bodyPr>
          <a:lstStyle/>
          <a:p>
            <a:pPr>
              <a:lnSpc>
                <a:spcPts val="3226"/>
              </a:lnSpc>
            </a:pPr>
            <a:r>
              <a:rPr lang="en-US" sz="3519" dirty="0">
                <a:solidFill>
                  <a:srgbClr val="CFCBBF"/>
                </a:solidFill>
                <a:latin typeface="Times New Roman" panose="02020603050405020304" pitchFamily="18" charset="0"/>
                <a:ea typeface="Prata" pitchFamily="34" charset="-122"/>
                <a:cs typeface="Times New Roman" panose="02020603050405020304" pitchFamily="18" charset="0"/>
              </a:rPr>
              <a:t>Year-wise Sales Trends</a:t>
            </a:r>
            <a:endParaRPr lang="en-US" sz="3519"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D825017-2801-D4B9-A6B5-2AAB4BCB3103}"/>
              </a:ext>
            </a:extLst>
          </p:cNvPr>
          <p:cNvSpPr txBox="1"/>
          <p:nvPr/>
        </p:nvSpPr>
        <p:spPr>
          <a:xfrm>
            <a:off x="2262908" y="4524986"/>
            <a:ext cx="6348925" cy="779509"/>
          </a:xfrm>
          <a:prstGeom prst="rect">
            <a:avLst/>
          </a:prstGeom>
          <a:noFill/>
        </p:spPr>
        <p:txBody>
          <a:bodyPr wrap="square">
            <a:spAutoFit/>
          </a:bodyPr>
          <a:lstStyle/>
          <a:p>
            <a:pPr>
              <a:lnSpc>
                <a:spcPts val="2786"/>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Understanding annual performance fluctuations and identifying peak periods.</a:t>
            </a:r>
            <a:endParaRPr lang="en-US" sz="1955" dirty="0">
              <a:latin typeface="Times New Roman" panose="02020603050405020304" pitchFamily="18" charset="0"/>
              <a:cs typeface="Times New Roman" panose="02020603050405020304" pitchFamily="18" charset="0"/>
            </a:endParaRPr>
          </a:p>
        </p:txBody>
      </p:sp>
      <p:pic>
        <p:nvPicPr>
          <p:cNvPr id="2" name="Image 0" descr="preencoded.png">
            <a:extLst>
              <a:ext uri="{FF2B5EF4-FFF2-40B4-BE49-F238E27FC236}">
                <a16:creationId xmlns:a16="http://schemas.microsoft.com/office/drawing/2014/main" id="{A847BA10-C14F-8EE1-2986-9A48DEAAAE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17849" y="3914565"/>
            <a:ext cx="506278" cy="506278"/>
          </a:xfrm>
          <a:prstGeom prst="rect">
            <a:avLst/>
          </a:prstGeom>
        </p:spPr>
      </p:pic>
      <p:sp>
        <p:nvSpPr>
          <p:cNvPr id="8" name="TextBox 7">
            <a:extLst>
              <a:ext uri="{FF2B5EF4-FFF2-40B4-BE49-F238E27FC236}">
                <a16:creationId xmlns:a16="http://schemas.microsoft.com/office/drawing/2014/main" id="{07027247-F771-BF4B-22C3-B1AE98CF4B58}"/>
              </a:ext>
            </a:extLst>
          </p:cNvPr>
          <p:cNvSpPr txBox="1"/>
          <p:nvPr/>
        </p:nvSpPr>
        <p:spPr>
          <a:xfrm>
            <a:off x="9709213" y="3893439"/>
            <a:ext cx="7951808" cy="506277"/>
          </a:xfrm>
          <a:prstGeom prst="rect">
            <a:avLst/>
          </a:prstGeom>
          <a:noFill/>
        </p:spPr>
        <p:txBody>
          <a:bodyPr wrap="square">
            <a:spAutoFit/>
          </a:bodyPr>
          <a:lstStyle/>
          <a:p>
            <a:pPr>
              <a:lnSpc>
                <a:spcPts val="3226"/>
              </a:lnSpc>
            </a:pPr>
            <a:r>
              <a:rPr lang="en-US" sz="3519" dirty="0">
                <a:solidFill>
                  <a:srgbClr val="CFCBBF"/>
                </a:solidFill>
                <a:latin typeface="Times New Roman" panose="02020603050405020304" pitchFamily="18" charset="0"/>
                <a:ea typeface="Prata" pitchFamily="34" charset="-122"/>
                <a:cs typeface="Times New Roman" panose="02020603050405020304" pitchFamily="18" charset="0"/>
              </a:rPr>
              <a:t>Top 5 Customers by Profit</a:t>
            </a:r>
            <a:endParaRPr lang="en-US" sz="3519" dirty="0">
              <a:latin typeface="Times New Roman" panose="02020603050405020304" pitchFamily="18" charset="0"/>
              <a:cs typeface="Times New Roman" panose="02020603050405020304" pitchFamily="18" charset="0"/>
            </a:endParaRPr>
          </a:p>
        </p:txBody>
      </p:sp>
      <p:pic>
        <p:nvPicPr>
          <p:cNvPr id="10" name="Image 0" descr="preencoded.png">
            <a:extLst>
              <a:ext uri="{FF2B5EF4-FFF2-40B4-BE49-F238E27FC236}">
                <a16:creationId xmlns:a16="http://schemas.microsoft.com/office/drawing/2014/main" id="{C4F7EDB0-BD36-6674-65D3-2BDDCE0ED5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99123" y="3920957"/>
            <a:ext cx="493495" cy="493495"/>
          </a:xfrm>
          <a:prstGeom prst="rect">
            <a:avLst/>
          </a:prstGeom>
        </p:spPr>
      </p:pic>
      <p:sp>
        <p:nvSpPr>
          <p:cNvPr id="12" name="TextBox 11">
            <a:extLst>
              <a:ext uri="{FF2B5EF4-FFF2-40B4-BE49-F238E27FC236}">
                <a16:creationId xmlns:a16="http://schemas.microsoft.com/office/drawing/2014/main" id="{6593D975-D8E8-C48E-C3EF-756CFDFA0DFD}"/>
              </a:ext>
            </a:extLst>
          </p:cNvPr>
          <p:cNvSpPr txBox="1"/>
          <p:nvPr/>
        </p:nvSpPr>
        <p:spPr>
          <a:xfrm>
            <a:off x="9847126" y="4524986"/>
            <a:ext cx="6080246" cy="779509"/>
          </a:xfrm>
          <a:prstGeom prst="rect">
            <a:avLst/>
          </a:prstGeom>
          <a:noFill/>
        </p:spPr>
        <p:txBody>
          <a:bodyPr wrap="square">
            <a:spAutoFit/>
          </a:bodyPr>
          <a:lstStyle/>
          <a:p>
            <a:pPr>
              <a:lnSpc>
                <a:spcPts val="2786"/>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Pinpointing key customer segments for targeted engagement and loyalty programs.</a:t>
            </a:r>
            <a:endParaRPr lang="en-US" sz="1955"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B3D0798-018B-CB7D-E07B-6478DF7200C3}"/>
              </a:ext>
            </a:extLst>
          </p:cNvPr>
          <p:cNvSpPr txBox="1"/>
          <p:nvPr/>
        </p:nvSpPr>
        <p:spPr>
          <a:xfrm>
            <a:off x="2258252" y="5716462"/>
            <a:ext cx="4752047" cy="506277"/>
          </a:xfrm>
          <a:prstGeom prst="rect">
            <a:avLst/>
          </a:prstGeom>
          <a:noFill/>
        </p:spPr>
        <p:txBody>
          <a:bodyPr wrap="square">
            <a:spAutoFit/>
          </a:bodyPr>
          <a:lstStyle/>
          <a:p>
            <a:pPr>
              <a:lnSpc>
                <a:spcPts val="3226"/>
              </a:lnSpc>
            </a:pPr>
            <a:r>
              <a:rPr lang="en-US" sz="3519" dirty="0">
                <a:solidFill>
                  <a:srgbClr val="CFCBBF"/>
                </a:solidFill>
                <a:latin typeface="Times New Roman" panose="02020603050405020304" pitchFamily="18" charset="0"/>
                <a:ea typeface="Prata" pitchFamily="34" charset="-122"/>
                <a:cs typeface="Times New Roman" panose="02020603050405020304" pitchFamily="18" charset="0"/>
              </a:rPr>
              <a:t>Top 5 Products by Sales</a:t>
            </a:r>
            <a:endParaRPr lang="en-US" sz="3519" dirty="0">
              <a:latin typeface="Times New Roman" panose="02020603050405020304" pitchFamily="18" charset="0"/>
              <a:cs typeface="Times New Roman" panose="02020603050405020304" pitchFamily="18" charset="0"/>
            </a:endParaRPr>
          </a:p>
        </p:txBody>
      </p:sp>
      <p:pic>
        <p:nvPicPr>
          <p:cNvPr id="15" name="Image 0" descr="preencoded.png">
            <a:extLst>
              <a:ext uri="{FF2B5EF4-FFF2-40B4-BE49-F238E27FC236}">
                <a16:creationId xmlns:a16="http://schemas.microsoft.com/office/drawing/2014/main" id="{56D87FC7-F2DA-12AE-9D77-3A097BAAAC6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92275" y="5696467"/>
            <a:ext cx="506277" cy="506277"/>
          </a:xfrm>
          <a:prstGeom prst="rect">
            <a:avLst/>
          </a:prstGeom>
        </p:spPr>
      </p:pic>
      <p:sp>
        <p:nvSpPr>
          <p:cNvPr id="17" name="TextBox 16">
            <a:extLst>
              <a:ext uri="{FF2B5EF4-FFF2-40B4-BE49-F238E27FC236}">
                <a16:creationId xmlns:a16="http://schemas.microsoft.com/office/drawing/2014/main" id="{2DD20024-50D0-C1BA-BDB4-B9ED937AF245}"/>
              </a:ext>
            </a:extLst>
          </p:cNvPr>
          <p:cNvSpPr txBox="1"/>
          <p:nvPr/>
        </p:nvSpPr>
        <p:spPr>
          <a:xfrm>
            <a:off x="2258252" y="6295643"/>
            <a:ext cx="5310722" cy="692000"/>
          </a:xfrm>
          <a:prstGeom prst="rect">
            <a:avLst/>
          </a:prstGeom>
          <a:noFill/>
        </p:spPr>
        <p:txBody>
          <a:bodyPr wrap="square">
            <a:spAutoFit/>
          </a:bodyPr>
          <a:lstStyle/>
          <a:p>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Highlighting best-selling products to inform inventory and marketing strategies</a:t>
            </a:r>
            <a:endParaRPr lang="en-IN" sz="195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3944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4648F3-B85A-2F50-56CF-FB97164476BE}"/>
              </a:ext>
            </a:extLst>
          </p:cNvPr>
          <p:cNvSpPr txBox="1"/>
          <p:nvPr/>
        </p:nvSpPr>
        <p:spPr>
          <a:xfrm>
            <a:off x="1398800" y="475510"/>
            <a:ext cx="10067912" cy="717073"/>
          </a:xfrm>
          <a:prstGeom prst="rect">
            <a:avLst/>
          </a:prstGeom>
          <a:noFill/>
        </p:spPr>
        <p:txBody>
          <a:bodyPr wrap="square">
            <a:spAutoFit/>
          </a:bodyPr>
          <a:lstStyle/>
          <a:p>
            <a:pPr>
              <a:lnSpc>
                <a:spcPts val="4888"/>
              </a:lnSpc>
            </a:pPr>
            <a:r>
              <a:rPr lang="en-US" sz="4692"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Process: Data Preparation to Modeling</a:t>
            </a:r>
          </a:p>
        </p:txBody>
      </p:sp>
      <p:sp>
        <p:nvSpPr>
          <p:cNvPr id="5" name="TextBox 4">
            <a:extLst>
              <a:ext uri="{FF2B5EF4-FFF2-40B4-BE49-F238E27FC236}">
                <a16:creationId xmlns:a16="http://schemas.microsoft.com/office/drawing/2014/main" id="{302180A8-7027-156C-F664-3D8388C68B02}"/>
              </a:ext>
            </a:extLst>
          </p:cNvPr>
          <p:cNvSpPr txBox="1"/>
          <p:nvPr/>
        </p:nvSpPr>
        <p:spPr>
          <a:xfrm>
            <a:off x="1398801" y="1130300"/>
            <a:ext cx="10526613" cy="1293740"/>
          </a:xfrm>
          <a:prstGeom prst="rect">
            <a:avLst/>
          </a:prstGeom>
          <a:noFill/>
        </p:spPr>
        <p:txBody>
          <a:bodyPr wrap="square">
            <a:spAutoFit/>
          </a:bodyPr>
          <a:lstStyle/>
          <a:p>
            <a:r>
              <a:rPr lang="en-US" sz="1955" dirty="0">
                <a:solidFill>
                  <a:srgbClr val="CFCBBF"/>
                </a:solidFill>
                <a:latin typeface="Times New Roman" panose="02020603050405020304" pitchFamily="18" charset="0"/>
                <a:cs typeface="Times New Roman" panose="02020603050405020304" pitchFamily="18" charset="0"/>
              </a:rPr>
              <a:t>This project follows a structured and systematic approach to ensure data accuracy, consistency, and reliability.</a:t>
            </a:r>
            <a:br>
              <a:rPr lang="en-US" sz="1955" dirty="0">
                <a:solidFill>
                  <a:srgbClr val="CFCBBF"/>
                </a:solidFill>
                <a:latin typeface="Times New Roman" panose="02020603050405020304" pitchFamily="18" charset="0"/>
                <a:cs typeface="Times New Roman" panose="02020603050405020304" pitchFamily="18" charset="0"/>
              </a:rPr>
            </a:br>
            <a:r>
              <a:rPr lang="en-US" sz="1955" dirty="0">
                <a:solidFill>
                  <a:srgbClr val="CFCBBF"/>
                </a:solidFill>
                <a:latin typeface="Times New Roman" panose="02020603050405020304" pitchFamily="18" charset="0"/>
                <a:cs typeface="Times New Roman" panose="02020603050405020304" pitchFamily="18" charset="0"/>
              </a:rPr>
              <a:t>Each step is carefully designed to transform raw data into meaningful insights for effective decision-making.</a:t>
            </a:r>
          </a:p>
        </p:txBody>
      </p:sp>
      <p:sp>
        <p:nvSpPr>
          <p:cNvPr id="7" name="TextBox 6">
            <a:extLst>
              <a:ext uri="{FF2B5EF4-FFF2-40B4-BE49-F238E27FC236}">
                <a16:creationId xmlns:a16="http://schemas.microsoft.com/office/drawing/2014/main" id="{284856AC-C85A-8D07-F3BA-6E6C6C65447D}"/>
              </a:ext>
            </a:extLst>
          </p:cNvPr>
          <p:cNvSpPr txBox="1"/>
          <p:nvPr/>
        </p:nvSpPr>
        <p:spPr>
          <a:xfrm>
            <a:off x="1452634" y="2350044"/>
            <a:ext cx="9382800" cy="416204"/>
          </a:xfrm>
          <a:prstGeom prst="rect">
            <a:avLst/>
          </a:prstGeom>
          <a:noFill/>
        </p:spPr>
        <p:txBody>
          <a:bodyPr wrap="square">
            <a:spAutoFit/>
          </a:bodyPr>
          <a:lstStyle/>
          <a:p>
            <a:pPr>
              <a:lnSpc>
                <a:spcPts val="2493"/>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Our robust process ensures data integrity and meaningful insights</a:t>
            </a:r>
            <a:r>
              <a:rPr lang="en-US" sz="2346" dirty="0">
                <a:solidFill>
                  <a:srgbClr val="CFCBBF"/>
                </a:solidFill>
                <a:latin typeface="Raleway" pitchFamily="34" charset="0"/>
                <a:ea typeface="Raleway" pitchFamily="34" charset="-122"/>
                <a:cs typeface="Raleway" pitchFamily="34" charset="-120"/>
              </a:rPr>
              <a:t>.</a:t>
            </a:r>
            <a:endParaRPr lang="en-US" sz="2346" dirty="0"/>
          </a:p>
        </p:txBody>
      </p:sp>
      <p:pic>
        <p:nvPicPr>
          <p:cNvPr id="2050" name="Picture 2" descr="Data Modelling Powerpoint PPT Template Bundles PPT Slide">
            <a:extLst>
              <a:ext uri="{FF2B5EF4-FFF2-40B4-BE49-F238E27FC236}">
                <a16:creationId xmlns:a16="http://schemas.microsoft.com/office/drawing/2014/main" id="{2ACD25AF-B677-072B-30DA-017A005E65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596" t="17184" r="32337" b="17169"/>
          <a:stretch>
            <a:fillRect/>
          </a:stretch>
        </p:blipFill>
        <p:spPr bwMode="auto">
          <a:xfrm>
            <a:off x="6019541" y="3012393"/>
            <a:ext cx="4687563" cy="379080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8BA5CF17-AC9A-A094-AB20-3FCA1F1FA5E7}"/>
              </a:ext>
            </a:extLst>
          </p:cNvPr>
          <p:cNvSpPr txBox="1"/>
          <p:nvPr/>
        </p:nvSpPr>
        <p:spPr>
          <a:xfrm>
            <a:off x="1657550" y="3181843"/>
            <a:ext cx="2302329" cy="403667"/>
          </a:xfrm>
          <a:prstGeom prst="rect">
            <a:avLst/>
          </a:prstGeom>
          <a:noFill/>
        </p:spPr>
        <p:txBody>
          <a:bodyPr wrap="square">
            <a:spAutoFit/>
          </a:bodyPr>
          <a:lstStyle/>
          <a:p>
            <a:pPr algn="r">
              <a:lnSpc>
                <a:spcPts val="2444"/>
              </a:lnSpc>
            </a:pPr>
            <a:r>
              <a:rPr lang="en-US" sz="2346" dirty="0">
                <a:solidFill>
                  <a:srgbClr val="F2E782"/>
                </a:solidFill>
                <a:latin typeface="Times New Roman" panose="02020603050405020304" pitchFamily="18" charset="0"/>
                <a:cs typeface="Times New Roman" panose="02020603050405020304" pitchFamily="18" charset="0"/>
              </a:rPr>
              <a:t>Data Collection</a:t>
            </a:r>
          </a:p>
        </p:txBody>
      </p:sp>
      <p:sp>
        <p:nvSpPr>
          <p:cNvPr id="15" name="TextBox 14">
            <a:extLst>
              <a:ext uri="{FF2B5EF4-FFF2-40B4-BE49-F238E27FC236}">
                <a16:creationId xmlns:a16="http://schemas.microsoft.com/office/drawing/2014/main" id="{6745C629-7BDF-AC5A-52B5-068BF17F4153}"/>
              </a:ext>
            </a:extLst>
          </p:cNvPr>
          <p:cNvSpPr txBox="1"/>
          <p:nvPr/>
        </p:nvSpPr>
        <p:spPr>
          <a:xfrm>
            <a:off x="1900218" y="3560831"/>
            <a:ext cx="4119323" cy="692000"/>
          </a:xfrm>
          <a:prstGeom prst="rect">
            <a:avLst/>
          </a:prstGeom>
          <a:noFill/>
        </p:spPr>
        <p:txBody>
          <a:bodyPr wrap="square">
            <a:spAutoFit/>
          </a:bodyPr>
          <a:lstStyle/>
          <a:p>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All Excel files imported into Power BI; initial consistency verification</a:t>
            </a:r>
            <a:endParaRPr lang="en-IN" sz="1955"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40A6C204-902A-9510-C607-2D72D6161111}"/>
              </a:ext>
            </a:extLst>
          </p:cNvPr>
          <p:cNvSpPr txBox="1"/>
          <p:nvPr/>
        </p:nvSpPr>
        <p:spPr>
          <a:xfrm>
            <a:off x="1742034" y="5326182"/>
            <a:ext cx="2135129" cy="403667"/>
          </a:xfrm>
          <a:prstGeom prst="rect">
            <a:avLst/>
          </a:prstGeom>
          <a:noFill/>
        </p:spPr>
        <p:txBody>
          <a:bodyPr wrap="square">
            <a:spAutoFit/>
          </a:bodyPr>
          <a:lstStyle/>
          <a:p>
            <a:pPr algn="r">
              <a:lnSpc>
                <a:spcPts val="2444"/>
              </a:lnSpc>
            </a:pPr>
            <a:r>
              <a:rPr lang="en-US" sz="2346" dirty="0">
                <a:solidFill>
                  <a:srgbClr val="F2E782"/>
                </a:solidFill>
                <a:latin typeface="Times New Roman" panose="02020603050405020304" pitchFamily="18" charset="0"/>
                <a:cs typeface="Times New Roman" panose="02020603050405020304" pitchFamily="18" charset="0"/>
              </a:rPr>
              <a:t>Data Modeling</a:t>
            </a:r>
          </a:p>
        </p:txBody>
      </p:sp>
      <p:sp>
        <p:nvSpPr>
          <p:cNvPr id="19" name="TextBox 18">
            <a:extLst>
              <a:ext uri="{FF2B5EF4-FFF2-40B4-BE49-F238E27FC236}">
                <a16:creationId xmlns:a16="http://schemas.microsoft.com/office/drawing/2014/main" id="{E098C4DF-5731-9C68-272B-59190090BA7D}"/>
              </a:ext>
            </a:extLst>
          </p:cNvPr>
          <p:cNvSpPr txBox="1"/>
          <p:nvPr/>
        </p:nvSpPr>
        <p:spPr>
          <a:xfrm>
            <a:off x="1923891" y="5726599"/>
            <a:ext cx="3906543" cy="992871"/>
          </a:xfrm>
          <a:prstGeom prst="rect">
            <a:avLst/>
          </a:prstGeom>
          <a:noFill/>
        </p:spPr>
        <p:txBody>
          <a:bodyPr wrap="square">
            <a:spAutoFit/>
          </a:bodyPr>
          <a:lstStyle/>
          <a:p>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Built a star schema model with established relationships for comprehensive analysis</a:t>
            </a:r>
            <a:endParaRPr lang="en-IN" sz="1955"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94E4A896-A55C-1766-0052-82653DE7F635}"/>
              </a:ext>
            </a:extLst>
          </p:cNvPr>
          <p:cNvSpPr txBox="1"/>
          <p:nvPr/>
        </p:nvSpPr>
        <p:spPr>
          <a:xfrm>
            <a:off x="11106897" y="2587315"/>
            <a:ext cx="2663273" cy="403667"/>
          </a:xfrm>
          <a:prstGeom prst="rect">
            <a:avLst/>
          </a:prstGeom>
          <a:noFill/>
        </p:spPr>
        <p:txBody>
          <a:bodyPr wrap="square">
            <a:spAutoFit/>
          </a:bodyPr>
          <a:lstStyle/>
          <a:p>
            <a:pPr>
              <a:lnSpc>
                <a:spcPts val="2444"/>
              </a:lnSpc>
            </a:pPr>
            <a:r>
              <a:rPr lang="en-US" sz="2346" dirty="0">
                <a:solidFill>
                  <a:srgbClr val="F2E782"/>
                </a:solidFill>
                <a:latin typeface="Times New Roman" panose="02020603050405020304" pitchFamily="18" charset="0"/>
                <a:cs typeface="Times New Roman" panose="02020603050405020304" pitchFamily="18" charset="0"/>
              </a:rPr>
              <a:t>Data Cleaning</a:t>
            </a:r>
          </a:p>
        </p:txBody>
      </p:sp>
      <p:sp>
        <p:nvSpPr>
          <p:cNvPr id="24" name="TextBox 23">
            <a:extLst>
              <a:ext uri="{FF2B5EF4-FFF2-40B4-BE49-F238E27FC236}">
                <a16:creationId xmlns:a16="http://schemas.microsoft.com/office/drawing/2014/main" id="{88C0A06C-F98D-89A5-0611-5C72D9180E6F}"/>
              </a:ext>
            </a:extLst>
          </p:cNvPr>
          <p:cNvSpPr txBox="1"/>
          <p:nvPr/>
        </p:nvSpPr>
        <p:spPr>
          <a:xfrm>
            <a:off x="11106897" y="3012393"/>
            <a:ext cx="3942481" cy="1038439"/>
          </a:xfrm>
          <a:prstGeom prst="rect">
            <a:avLst/>
          </a:prstGeom>
          <a:noFill/>
        </p:spPr>
        <p:txBody>
          <a:bodyPr wrap="square">
            <a:spAutoFit/>
          </a:bodyPr>
          <a:lstStyle/>
          <a:p>
            <a:pPr>
              <a:lnSpc>
                <a:spcPts val="2493"/>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Rem</a:t>
            </a:r>
            <a:r>
              <a:rPr lang="en-US" sz="1955" dirty="0">
                <a:solidFill>
                  <a:srgbClr val="CFCBBF"/>
                </a:solidFill>
                <a:latin typeface="Times New Roman" panose="02020603050405020304" pitchFamily="18" charset="0"/>
                <a:cs typeface="Times New Roman" panose="02020603050405020304" pitchFamily="18" charset="0"/>
              </a:rPr>
              <a:t>ov</a:t>
            </a: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ed duplicates, invalid records, and handled missing values; standardized column names.</a:t>
            </a:r>
            <a:endParaRPr lang="en-US" sz="1955"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E5D16044-ACE3-37EA-4446-7ACCDB342360}"/>
              </a:ext>
            </a:extLst>
          </p:cNvPr>
          <p:cNvSpPr txBox="1"/>
          <p:nvPr/>
        </p:nvSpPr>
        <p:spPr>
          <a:xfrm>
            <a:off x="11106897" y="4298574"/>
            <a:ext cx="2944481" cy="403667"/>
          </a:xfrm>
          <a:prstGeom prst="rect">
            <a:avLst/>
          </a:prstGeom>
          <a:noFill/>
        </p:spPr>
        <p:txBody>
          <a:bodyPr wrap="square">
            <a:spAutoFit/>
          </a:bodyPr>
          <a:lstStyle/>
          <a:p>
            <a:pPr>
              <a:lnSpc>
                <a:spcPts val="2444"/>
              </a:lnSpc>
            </a:pPr>
            <a:r>
              <a:rPr lang="en-US" sz="2346" dirty="0">
                <a:solidFill>
                  <a:srgbClr val="F2E782"/>
                </a:solidFill>
                <a:latin typeface="Times New Roman" panose="02020603050405020304" pitchFamily="18" charset="0"/>
                <a:cs typeface="Times New Roman" panose="02020603050405020304" pitchFamily="18" charset="0"/>
              </a:rPr>
              <a:t>Data Transformation</a:t>
            </a:r>
          </a:p>
        </p:txBody>
      </p:sp>
      <p:sp>
        <p:nvSpPr>
          <p:cNvPr id="28" name="TextBox 27">
            <a:extLst>
              <a:ext uri="{FF2B5EF4-FFF2-40B4-BE49-F238E27FC236}">
                <a16:creationId xmlns:a16="http://schemas.microsoft.com/office/drawing/2014/main" id="{9445F5FE-FDFA-A18B-DD29-A07CD27CD503}"/>
              </a:ext>
            </a:extLst>
          </p:cNvPr>
          <p:cNvSpPr txBox="1"/>
          <p:nvPr/>
        </p:nvSpPr>
        <p:spPr>
          <a:xfrm>
            <a:off x="11106896" y="4702242"/>
            <a:ext cx="4337670" cy="713562"/>
          </a:xfrm>
          <a:prstGeom prst="rect">
            <a:avLst/>
          </a:prstGeom>
          <a:noFill/>
        </p:spPr>
        <p:txBody>
          <a:bodyPr wrap="square">
            <a:spAutoFit/>
          </a:bodyPr>
          <a:lstStyle/>
          <a:p>
            <a:pPr>
              <a:lnSpc>
                <a:spcPts val="2493"/>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Appended fact tables, merged product dimension tables for a unified view.</a:t>
            </a:r>
            <a:endParaRPr lang="en-US" sz="1955"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2A74CB91-70B8-43C5-45E7-30AEE521EDFA}"/>
              </a:ext>
            </a:extLst>
          </p:cNvPr>
          <p:cNvSpPr txBox="1"/>
          <p:nvPr/>
        </p:nvSpPr>
        <p:spPr>
          <a:xfrm>
            <a:off x="11262150" y="5742356"/>
            <a:ext cx="3556702" cy="403667"/>
          </a:xfrm>
          <a:prstGeom prst="rect">
            <a:avLst/>
          </a:prstGeom>
          <a:noFill/>
        </p:spPr>
        <p:txBody>
          <a:bodyPr wrap="square">
            <a:spAutoFit/>
          </a:bodyPr>
          <a:lstStyle/>
          <a:p>
            <a:pPr>
              <a:lnSpc>
                <a:spcPts val="2444"/>
              </a:lnSpc>
            </a:pPr>
            <a:r>
              <a:rPr lang="en-US" sz="2346" dirty="0">
                <a:solidFill>
                  <a:srgbClr val="F2E782"/>
                </a:solidFill>
                <a:latin typeface="Prata" pitchFamily="34" charset="0"/>
              </a:rPr>
              <a:t>Feature Engineering</a:t>
            </a:r>
          </a:p>
        </p:txBody>
      </p:sp>
      <p:sp>
        <p:nvSpPr>
          <p:cNvPr id="32" name="TextBox 31">
            <a:extLst>
              <a:ext uri="{FF2B5EF4-FFF2-40B4-BE49-F238E27FC236}">
                <a16:creationId xmlns:a16="http://schemas.microsoft.com/office/drawing/2014/main" id="{3E156F58-9327-3A5E-82EB-B8166D69BC4C}"/>
              </a:ext>
            </a:extLst>
          </p:cNvPr>
          <p:cNvSpPr txBox="1"/>
          <p:nvPr/>
        </p:nvSpPr>
        <p:spPr>
          <a:xfrm>
            <a:off x="11262151" y="6067214"/>
            <a:ext cx="4027163" cy="1353384"/>
          </a:xfrm>
          <a:prstGeom prst="rect">
            <a:avLst/>
          </a:prstGeom>
          <a:noFill/>
        </p:spPr>
        <p:txBody>
          <a:bodyPr wrap="square">
            <a:spAutoFit/>
          </a:bodyPr>
          <a:lstStyle/>
          <a:p>
            <a:pPr>
              <a:lnSpc>
                <a:spcPts val="2493"/>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Extracted date components (Year, Quarter, Month) and created key measures (Sales, Cost, Profit, Margin).</a:t>
            </a:r>
            <a:endParaRPr lang="en-US" sz="195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929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D3A7FA-A48C-D451-1607-FE660B168A0B}"/>
              </a:ext>
            </a:extLst>
          </p:cNvPr>
          <p:cNvSpPr txBox="1"/>
          <p:nvPr/>
        </p:nvSpPr>
        <p:spPr>
          <a:xfrm>
            <a:off x="1227169" y="438060"/>
            <a:ext cx="9710360" cy="666114"/>
          </a:xfrm>
          <a:prstGeom prst="rect">
            <a:avLst/>
          </a:prstGeom>
          <a:noFill/>
        </p:spPr>
        <p:txBody>
          <a:bodyPr wrap="square">
            <a:spAutoFit/>
          </a:bodyPr>
          <a:lstStyle/>
          <a:p>
            <a:pPr>
              <a:lnSpc>
                <a:spcPts val="4888"/>
              </a:lnSpc>
            </a:pPr>
            <a:r>
              <a:rPr lang="en-US" sz="3519"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Analysis: Key Business Performance Evaluation</a:t>
            </a:r>
          </a:p>
        </p:txBody>
      </p:sp>
      <p:sp>
        <p:nvSpPr>
          <p:cNvPr id="4" name="AutoShape 2">
            <a:extLst>
              <a:ext uri="{FF2B5EF4-FFF2-40B4-BE49-F238E27FC236}">
                <a16:creationId xmlns:a16="http://schemas.microsoft.com/office/drawing/2014/main" id="{060535F0-65A3-78DC-8BE1-49ABFEE26053}"/>
              </a:ext>
            </a:extLst>
          </p:cNvPr>
          <p:cNvSpPr>
            <a:spLocks noChangeAspect="1" noChangeArrowheads="1"/>
          </p:cNvSpPr>
          <p:nvPr/>
        </p:nvSpPr>
        <p:spPr bwMode="auto">
          <a:xfrm>
            <a:off x="7824257" y="3792782"/>
            <a:ext cx="297960" cy="2979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9388" tIns="44694" rIns="89388" bIns="44694" numCol="1" anchor="t" anchorCtr="0" compatLnSpc="1">
            <a:prstTxWarp prst="textNoShape">
              <a:avLst/>
            </a:prstTxWarp>
          </a:bodyPr>
          <a:lstStyle/>
          <a:p>
            <a:endParaRPr lang="en-IN" sz="2200"/>
          </a:p>
        </p:txBody>
      </p:sp>
      <p:sp>
        <p:nvSpPr>
          <p:cNvPr id="5" name="AutoShape 4">
            <a:extLst>
              <a:ext uri="{FF2B5EF4-FFF2-40B4-BE49-F238E27FC236}">
                <a16:creationId xmlns:a16="http://schemas.microsoft.com/office/drawing/2014/main" id="{073A3257-6C92-F4BB-56DC-1D785585B198}"/>
              </a:ext>
            </a:extLst>
          </p:cNvPr>
          <p:cNvSpPr>
            <a:spLocks noChangeAspect="1" noChangeArrowheads="1"/>
          </p:cNvSpPr>
          <p:nvPr/>
        </p:nvSpPr>
        <p:spPr bwMode="auto">
          <a:xfrm>
            <a:off x="3899026" y="3367798"/>
            <a:ext cx="3284208" cy="32842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9388" tIns="44694" rIns="89388" bIns="44694" numCol="1" anchor="t" anchorCtr="0" compatLnSpc="1">
            <a:prstTxWarp prst="textNoShape">
              <a:avLst/>
            </a:prstTxWarp>
          </a:bodyPr>
          <a:lstStyle/>
          <a:p>
            <a:endParaRPr lang="en-IN" sz="2200"/>
          </a:p>
        </p:txBody>
      </p:sp>
      <p:sp>
        <p:nvSpPr>
          <p:cNvPr id="6" name="AutoShape 6">
            <a:extLst>
              <a:ext uri="{FF2B5EF4-FFF2-40B4-BE49-F238E27FC236}">
                <a16:creationId xmlns:a16="http://schemas.microsoft.com/office/drawing/2014/main" id="{3B7FF32B-8802-C841-C349-C0FE681091C3}"/>
              </a:ext>
            </a:extLst>
          </p:cNvPr>
          <p:cNvSpPr>
            <a:spLocks noChangeAspect="1" noChangeArrowheads="1"/>
          </p:cNvSpPr>
          <p:nvPr/>
        </p:nvSpPr>
        <p:spPr bwMode="auto">
          <a:xfrm>
            <a:off x="6505767" y="3866488"/>
            <a:ext cx="297960" cy="2979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9388" tIns="44694" rIns="89388" bIns="44694" numCol="1" anchor="t" anchorCtr="0" compatLnSpc="1">
            <a:prstTxWarp prst="textNoShape">
              <a:avLst/>
            </a:prstTxWarp>
          </a:bodyPr>
          <a:lstStyle/>
          <a:p>
            <a:endParaRPr lang="en-IN" sz="2200"/>
          </a:p>
        </p:txBody>
      </p:sp>
      <p:pic>
        <p:nvPicPr>
          <p:cNvPr id="9" name="Picture 8">
            <a:extLst>
              <a:ext uri="{FF2B5EF4-FFF2-40B4-BE49-F238E27FC236}">
                <a16:creationId xmlns:a16="http://schemas.microsoft.com/office/drawing/2014/main" id="{79BE081F-4CCD-42BA-3BEF-DDB3FDD5EF0B}"/>
              </a:ext>
            </a:extLst>
          </p:cNvPr>
          <p:cNvPicPr>
            <a:picLocks noChangeAspect="1"/>
          </p:cNvPicPr>
          <p:nvPr/>
        </p:nvPicPr>
        <p:blipFill>
          <a:blip r:embed="rId2"/>
          <a:stretch>
            <a:fillRect/>
          </a:stretch>
        </p:blipFill>
        <p:spPr>
          <a:xfrm>
            <a:off x="1337618" y="2808184"/>
            <a:ext cx="6166128" cy="4075709"/>
          </a:xfrm>
          <a:prstGeom prst="rect">
            <a:avLst/>
          </a:prstGeom>
          <a:effectLst>
            <a:outerShdw blurRad="63500" sx="102000" sy="102000" algn="ctr" rotWithShape="0">
              <a:prstClr val="black">
                <a:alpha val="25000"/>
              </a:prstClr>
            </a:outerShdw>
          </a:effectLst>
        </p:spPr>
      </p:pic>
      <p:sp>
        <p:nvSpPr>
          <p:cNvPr id="11" name="TextBox 10">
            <a:extLst>
              <a:ext uri="{FF2B5EF4-FFF2-40B4-BE49-F238E27FC236}">
                <a16:creationId xmlns:a16="http://schemas.microsoft.com/office/drawing/2014/main" id="{0492B07E-C26D-5F76-D0BB-E85F06A8FDED}"/>
              </a:ext>
            </a:extLst>
          </p:cNvPr>
          <p:cNvSpPr txBox="1"/>
          <p:nvPr/>
        </p:nvSpPr>
        <p:spPr>
          <a:xfrm>
            <a:off x="7973237" y="3514209"/>
            <a:ext cx="7008338" cy="2344340"/>
          </a:xfrm>
          <a:prstGeom prst="rect">
            <a:avLst/>
          </a:prstGeom>
          <a:noFill/>
        </p:spPr>
        <p:txBody>
          <a:bodyPr wrap="square">
            <a:spAutoFit/>
          </a:bodyPr>
          <a:lstStyle/>
          <a:p>
            <a:pPr>
              <a:lnSpc>
                <a:spcPts val="2493"/>
              </a:lnSpc>
            </a:pPr>
            <a:r>
              <a:rPr lang="en-US" sz="2737" b="1" dirty="0">
                <a:solidFill>
                  <a:srgbClr val="CFCBBF"/>
                </a:solidFill>
                <a:latin typeface="Raleway" pitchFamily="34" charset="0"/>
              </a:rPr>
              <a:t>Insight</a:t>
            </a:r>
          </a:p>
          <a:p>
            <a:pPr>
              <a:lnSpc>
                <a:spcPts val="2493"/>
              </a:lnSpc>
            </a:pPr>
            <a:endParaRPr lang="en-US" sz="2346" b="1" dirty="0">
              <a:solidFill>
                <a:srgbClr val="CFCBBF"/>
              </a:solidFill>
              <a:latin typeface="Raleway" pitchFamily="34" charset="0"/>
            </a:endParaRPr>
          </a:p>
          <a:p>
            <a:pPr marL="279349" indent="-279349">
              <a:lnSpc>
                <a:spcPts val="2493"/>
              </a:lnSpc>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Sales showed steady growth from 2010 to 2013</a:t>
            </a:r>
          </a:p>
          <a:p>
            <a:pPr marL="279349" indent="-279349">
              <a:lnSpc>
                <a:spcPts val="2493"/>
              </a:lnSpc>
              <a:buFont typeface="Arial" panose="020B0604020202020204" pitchFamily="34" charset="0"/>
              <a:buChar char="•"/>
            </a:pPr>
            <a:endParaRPr lang="en-US" sz="1955" dirty="0">
              <a:solidFill>
                <a:srgbClr val="CFCBBF"/>
              </a:solidFill>
              <a:latin typeface="Times New Roman" panose="02020603050405020304" pitchFamily="18" charset="0"/>
              <a:cs typeface="Times New Roman" panose="02020603050405020304" pitchFamily="18" charset="0"/>
            </a:endParaRPr>
          </a:p>
          <a:p>
            <a:pPr marL="279349" indent="-279349">
              <a:lnSpc>
                <a:spcPts val="2493"/>
              </a:lnSpc>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2013 was the highest performing year</a:t>
            </a:r>
          </a:p>
          <a:p>
            <a:pPr marL="279349" indent="-279349">
              <a:lnSpc>
                <a:spcPts val="2493"/>
              </a:lnSpc>
              <a:buFont typeface="Arial" panose="020B0604020202020204" pitchFamily="34" charset="0"/>
              <a:buChar char="•"/>
            </a:pPr>
            <a:endParaRPr lang="en-US" sz="1955" dirty="0">
              <a:solidFill>
                <a:srgbClr val="CFCBBF"/>
              </a:solidFill>
              <a:latin typeface="Times New Roman" panose="02020603050405020304" pitchFamily="18" charset="0"/>
              <a:cs typeface="Times New Roman" panose="02020603050405020304" pitchFamily="18" charset="0"/>
            </a:endParaRPr>
          </a:p>
          <a:p>
            <a:pPr marL="279349" indent="-279349">
              <a:lnSpc>
                <a:spcPts val="2493"/>
              </a:lnSpc>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Slight dip observed in 2014 due to limited data availability</a:t>
            </a:r>
          </a:p>
        </p:txBody>
      </p:sp>
      <p:sp>
        <p:nvSpPr>
          <p:cNvPr id="13" name="TextBox 12">
            <a:extLst>
              <a:ext uri="{FF2B5EF4-FFF2-40B4-BE49-F238E27FC236}">
                <a16:creationId xmlns:a16="http://schemas.microsoft.com/office/drawing/2014/main" id="{84B8558E-9ED8-04D3-A3A9-832E68FC7549}"/>
              </a:ext>
            </a:extLst>
          </p:cNvPr>
          <p:cNvSpPr txBox="1"/>
          <p:nvPr/>
        </p:nvSpPr>
        <p:spPr>
          <a:xfrm>
            <a:off x="1227170" y="1529480"/>
            <a:ext cx="11518858" cy="692000"/>
          </a:xfrm>
          <a:prstGeom prst="rect">
            <a:avLst/>
          </a:prstGeom>
          <a:noFill/>
        </p:spPr>
        <p:txBody>
          <a:bodyPr wrap="square">
            <a:spAutoFit/>
          </a:bodyPr>
          <a:lstStyle/>
          <a:p>
            <a:r>
              <a:rPr lang="en-US" sz="1955" dirty="0">
                <a:solidFill>
                  <a:srgbClr val="CFCBBF"/>
                </a:solidFill>
                <a:latin typeface="Times New Roman" panose="02020603050405020304" pitchFamily="18" charset="0"/>
                <a:cs typeface="Times New Roman" panose="02020603050405020304" pitchFamily="18" charset="0"/>
              </a:rPr>
              <a:t>This analysis examines sales trends, top customers, best-performing products, and regional sales distribution.</a:t>
            </a:r>
            <a:br>
              <a:rPr lang="en-US" sz="1955" dirty="0">
                <a:solidFill>
                  <a:srgbClr val="CFCBBF"/>
                </a:solidFill>
                <a:latin typeface="Times New Roman" panose="02020603050405020304" pitchFamily="18" charset="0"/>
                <a:cs typeface="Times New Roman" panose="02020603050405020304" pitchFamily="18" charset="0"/>
              </a:rPr>
            </a:br>
            <a:r>
              <a:rPr lang="en-US" sz="1955" dirty="0">
                <a:solidFill>
                  <a:srgbClr val="CFCBBF"/>
                </a:solidFill>
                <a:latin typeface="Times New Roman" panose="02020603050405020304" pitchFamily="18" charset="0"/>
                <a:cs typeface="Times New Roman" panose="02020603050405020304" pitchFamily="18" charset="0"/>
              </a:rPr>
              <a:t>The goal is to uncover actionable insights that help improve business performance and profitability..</a:t>
            </a:r>
          </a:p>
        </p:txBody>
      </p:sp>
    </p:spTree>
    <p:extLst>
      <p:ext uri="{BB962C8B-B14F-4D97-AF65-F5344CB8AC3E}">
        <p14:creationId xmlns:p14="http://schemas.microsoft.com/office/powerpoint/2010/main" val="752562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4BC188-4A07-28CD-2371-706273447EE7}"/>
              </a:ext>
            </a:extLst>
          </p:cNvPr>
          <p:cNvSpPr txBox="1"/>
          <p:nvPr/>
        </p:nvSpPr>
        <p:spPr>
          <a:xfrm>
            <a:off x="3979606" y="509093"/>
            <a:ext cx="7555639" cy="529845"/>
          </a:xfrm>
          <a:prstGeom prst="rect">
            <a:avLst/>
          </a:prstGeom>
          <a:noFill/>
        </p:spPr>
        <p:txBody>
          <a:bodyPr wrap="square">
            <a:spAutoFit/>
          </a:bodyPr>
          <a:lstStyle/>
          <a:p>
            <a:pPr algn="ctr">
              <a:lnSpc>
                <a:spcPts val="3226"/>
              </a:lnSpc>
            </a:pPr>
            <a:r>
              <a:rPr lang="en-US" sz="4301" b="1" dirty="0">
                <a:solidFill>
                  <a:schemeClr val="accent5">
                    <a:lumMod val="60000"/>
                    <a:lumOff val="40000"/>
                  </a:schemeClr>
                </a:solidFill>
                <a:latin typeface="Times New Roman" panose="02020603050405020304" pitchFamily="18" charset="0"/>
                <a:ea typeface="Prata" pitchFamily="34" charset="-122"/>
                <a:cs typeface="Times New Roman" panose="02020603050405020304" pitchFamily="18" charset="0"/>
              </a:rPr>
              <a:t>Top 5 customers By Profit </a:t>
            </a:r>
            <a:endParaRPr lang="en-US" sz="4301" b="1" dirty="0">
              <a:solidFill>
                <a:schemeClr val="accent5">
                  <a:lumMod val="60000"/>
                  <a:lumOff val="40000"/>
                </a:schemeClr>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B649CAD-2323-C273-D3B4-FE7E1C1058B7}"/>
              </a:ext>
            </a:extLst>
          </p:cNvPr>
          <p:cNvPicPr>
            <a:picLocks noChangeAspect="1"/>
          </p:cNvPicPr>
          <p:nvPr/>
        </p:nvPicPr>
        <p:blipFill>
          <a:blip r:embed="rId2"/>
          <a:stretch>
            <a:fillRect/>
          </a:stretch>
        </p:blipFill>
        <p:spPr>
          <a:xfrm>
            <a:off x="1216384" y="2212876"/>
            <a:ext cx="5849234" cy="4631711"/>
          </a:xfrm>
          <a:prstGeom prst="rect">
            <a:avLst/>
          </a:prstGeom>
        </p:spPr>
      </p:pic>
      <p:sp>
        <p:nvSpPr>
          <p:cNvPr id="13" name="TextBox 12">
            <a:extLst>
              <a:ext uri="{FF2B5EF4-FFF2-40B4-BE49-F238E27FC236}">
                <a16:creationId xmlns:a16="http://schemas.microsoft.com/office/drawing/2014/main" id="{7F0B6E87-F8B8-1DB7-163F-541AA9603E97}"/>
              </a:ext>
            </a:extLst>
          </p:cNvPr>
          <p:cNvSpPr txBox="1"/>
          <p:nvPr/>
        </p:nvSpPr>
        <p:spPr>
          <a:xfrm>
            <a:off x="7613536" y="2659816"/>
            <a:ext cx="7282769" cy="3316212"/>
          </a:xfrm>
          <a:prstGeom prst="rect">
            <a:avLst/>
          </a:prstGeom>
          <a:noFill/>
        </p:spPr>
        <p:txBody>
          <a:bodyPr wrap="square">
            <a:spAutoFit/>
          </a:bodyPr>
          <a:lstStyle/>
          <a:p>
            <a:pPr>
              <a:lnSpc>
                <a:spcPts val="2493"/>
              </a:lnSpc>
            </a:pPr>
            <a:r>
              <a:rPr lang="en-US" sz="3128" b="1" dirty="0">
                <a:solidFill>
                  <a:srgbClr val="CFCBBF"/>
                </a:solidFill>
                <a:latin typeface="Raleway" pitchFamily="34" charset="0"/>
              </a:rPr>
              <a:t>Insight</a:t>
            </a:r>
          </a:p>
          <a:p>
            <a:pPr>
              <a:lnSpc>
                <a:spcPts val="2493"/>
              </a:lnSpc>
            </a:pPr>
            <a:endParaRPr lang="en-US" sz="1955" b="1" dirty="0">
              <a:solidFill>
                <a:srgbClr val="CFCBBF"/>
              </a:solidFill>
              <a:latin typeface="Raleway" pitchFamily="34" charset="0"/>
            </a:endParaRPr>
          </a:p>
          <a:p>
            <a:pPr marL="279349" indent="-279349">
              <a:lnSpc>
                <a:spcPts val="2493"/>
              </a:lnSpc>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KAITLYN J HENDERSON is the highest profit-contributing customer, clearly leading the group.</a:t>
            </a:r>
          </a:p>
          <a:p>
            <a:pPr marL="279349" indent="-279349">
              <a:lnSpc>
                <a:spcPts val="2493"/>
              </a:lnSpc>
              <a:buFont typeface="Arial" panose="020B0604020202020204" pitchFamily="34" charset="0"/>
              <a:buChar char="•"/>
            </a:pPr>
            <a:endParaRPr lang="en-US" sz="1955" dirty="0">
              <a:solidFill>
                <a:srgbClr val="CFCBBF"/>
              </a:solidFill>
              <a:latin typeface="Times New Roman" panose="02020603050405020304" pitchFamily="18" charset="0"/>
              <a:cs typeface="Times New Roman" panose="02020603050405020304" pitchFamily="18" charset="0"/>
            </a:endParaRPr>
          </a:p>
          <a:p>
            <a:pPr marL="279349" indent="-279349">
              <a:lnSpc>
                <a:spcPts val="2493"/>
              </a:lnSpc>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 A small set of customers contributes a disproportionately high share of profit, with one clear top contributor. </a:t>
            </a:r>
          </a:p>
          <a:p>
            <a:pPr marL="279349" indent="-279349">
              <a:lnSpc>
                <a:spcPts val="2493"/>
              </a:lnSpc>
              <a:buFont typeface="Arial" panose="020B0604020202020204" pitchFamily="34" charset="0"/>
              <a:buChar char="•"/>
            </a:pPr>
            <a:endParaRPr lang="en-US" sz="1955" dirty="0">
              <a:solidFill>
                <a:srgbClr val="CFCBBF"/>
              </a:solidFill>
              <a:latin typeface="Times New Roman" panose="02020603050405020304" pitchFamily="18" charset="0"/>
              <a:cs typeface="Times New Roman" panose="02020603050405020304" pitchFamily="18" charset="0"/>
            </a:endParaRPr>
          </a:p>
          <a:p>
            <a:pPr marL="279349" indent="-279349">
              <a:lnSpc>
                <a:spcPts val="2493"/>
              </a:lnSpc>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This indicates customer concentration risk and an opportunity to design retention and loyalty strategies for high-value customers.</a:t>
            </a:r>
          </a:p>
        </p:txBody>
      </p:sp>
    </p:spTree>
    <p:extLst>
      <p:ext uri="{BB962C8B-B14F-4D97-AF65-F5344CB8AC3E}">
        <p14:creationId xmlns:p14="http://schemas.microsoft.com/office/powerpoint/2010/main" val="596926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8EE964-A141-07D3-4180-06F85A46864E}"/>
              </a:ext>
            </a:extLst>
          </p:cNvPr>
          <p:cNvSpPr txBox="1"/>
          <p:nvPr/>
        </p:nvSpPr>
        <p:spPr>
          <a:xfrm>
            <a:off x="4031132" y="423211"/>
            <a:ext cx="7038128" cy="529845"/>
          </a:xfrm>
          <a:prstGeom prst="rect">
            <a:avLst/>
          </a:prstGeom>
          <a:noFill/>
        </p:spPr>
        <p:txBody>
          <a:bodyPr wrap="square">
            <a:spAutoFit/>
          </a:bodyPr>
          <a:lstStyle/>
          <a:p>
            <a:pPr algn="ctr">
              <a:lnSpc>
                <a:spcPts val="3226"/>
              </a:lnSpc>
            </a:pPr>
            <a:r>
              <a:rPr lang="en-US" sz="4301" b="1" dirty="0">
                <a:solidFill>
                  <a:schemeClr val="accent5">
                    <a:lumMod val="60000"/>
                    <a:lumOff val="40000"/>
                  </a:schemeClr>
                </a:solidFill>
                <a:latin typeface="Times New Roman" panose="02020603050405020304" pitchFamily="18" charset="0"/>
                <a:ea typeface="Prata" pitchFamily="34" charset="-122"/>
                <a:cs typeface="Times New Roman" panose="02020603050405020304" pitchFamily="18" charset="0"/>
              </a:rPr>
              <a:t>Top 5 Products by Sales</a:t>
            </a:r>
            <a:endParaRPr lang="en-US" sz="4301" b="1" dirty="0">
              <a:solidFill>
                <a:schemeClr val="accent5">
                  <a:lumMod val="60000"/>
                  <a:lumOff val="40000"/>
                </a:schemeClr>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2662734-5B73-B66B-DA8E-9487FD1604CF}"/>
              </a:ext>
            </a:extLst>
          </p:cNvPr>
          <p:cNvPicPr>
            <a:picLocks noChangeAspect="1"/>
          </p:cNvPicPr>
          <p:nvPr/>
        </p:nvPicPr>
        <p:blipFill>
          <a:blip r:embed="rId2"/>
          <a:stretch>
            <a:fillRect/>
          </a:stretch>
        </p:blipFill>
        <p:spPr>
          <a:xfrm>
            <a:off x="1256201" y="1937366"/>
            <a:ext cx="5760019" cy="4613180"/>
          </a:xfrm>
          <a:prstGeom prst="rect">
            <a:avLst/>
          </a:prstGeom>
        </p:spPr>
      </p:pic>
      <p:sp>
        <p:nvSpPr>
          <p:cNvPr id="13" name="TextBox 12">
            <a:extLst>
              <a:ext uri="{FF2B5EF4-FFF2-40B4-BE49-F238E27FC236}">
                <a16:creationId xmlns:a16="http://schemas.microsoft.com/office/drawing/2014/main" id="{B992CD8A-6271-39CB-98BA-1E1EFB93F0BE}"/>
              </a:ext>
            </a:extLst>
          </p:cNvPr>
          <p:cNvSpPr txBox="1"/>
          <p:nvPr/>
        </p:nvSpPr>
        <p:spPr>
          <a:xfrm>
            <a:off x="7446696" y="1937366"/>
            <a:ext cx="7245131" cy="4297863"/>
          </a:xfrm>
          <a:prstGeom prst="rect">
            <a:avLst/>
          </a:prstGeom>
          <a:noFill/>
        </p:spPr>
        <p:txBody>
          <a:bodyPr wrap="square">
            <a:spAutoFit/>
          </a:bodyPr>
          <a:lstStyle/>
          <a:p>
            <a:pPr>
              <a:lnSpc>
                <a:spcPts val="2493"/>
              </a:lnSpc>
            </a:pPr>
            <a:r>
              <a:rPr lang="en-US" sz="3128" b="1" dirty="0">
                <a:solidFill>
                  <a:srgbClr val="CFCBBF"/>
                </a:solidFill>
                <a:latin typeface="Raleway" pitchFamily="34" charset="0"/>
              </a:rPr>
              <a:t>Insight</a:t>
            </a:r>
          </a:p>
          <a:p>
            <a:pPr>
              <a:lnSpc>
                <a:spcPts val="2493"/>
              </a:lnSpc>
            </a:pPr>
            <a:endParaRPr lang="en-US" sz="1564" b="1" dirty="0">
              <a:solidFill>
                <a:srgbClr val="CFCBBF"/>
              </a:solidFill>
              <a:latin typeface="Raleway" pitchFamily="34" charset="0"/>
            </a:endParaRPr>
          </a:p>
          <a:p>
            <a:pPr marL="279349" indent="-279349">
              <a:lnSpc>
                <a:spcPts val="2493"/>
              </a:lnSpc>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Mountain-200 Black variants consistently generate the highest sales among top products.</a:t>
            </a:r>
          </a:p>
          <a:p>
            <a:pPr marL="279349" indent="-279349">
              <a:lnSpc>
                <a:spcPts val="2493"/>
              </a:lnSpc>
              <a:buFont typeface="Arial" panose="020B0604020202020204" pitchFamily="34" charset="0"/>
              <a:buChar char="•"/>
            </a:pPr>
            <a:endParaRPr lang="en-US" sz="1955" dirty="0">
              <a:solidFill>
                <a:srgbClr val="CFCBBF"/>
              </a:solidFill>
              <a:latin typeface="Times New Roman" panose="02020603050405020304" pitchFamily="18" charset="0"/>
              <a:cs typeface="Times New Roman" panose="02020603050405020304" pitchFamily="18" charset="0"/>
            </a:endParaRPr>
          </a:p>
          <a:p>
            <a:pPr marL="279349" indent="-279349">
              <a:lnSpc>
                <a:spcPts val="2493"/>
              </a:lnSpc>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Sales across the top 5 products are fairly balanced, showing diversified product demand.</a:t>
            </a:r>
          </a:p>
          <a:p>
            <a:pPr marL="279349" indent="-279349">
              <a:lnSpc>
                <a:spcPts val="2493"/>
              </a:lnSpc>
              <a:buFont typeface="Arial" panose="020B0604020202020204" pitchFamily="34" charset="0"/>
              <a:buChar char="•"/>
            </a:pPr>
            <a:endParaRPr lang="en-US" sz="1955" dirty="0">
              <a:solidFill>
                <a:srgbClr val="CFCBBF"/>
              </a:solidFill>
              <a:latin typeface="Times New Roman" panose="02020603050405020304" pitchFamily="18" charset="0"/>
              <a:cs typeface="Times New Roman" panose="02020603050405020304" pitchFamily="18" charset="0"/>
            </a:endParaRPr>
          </a:p>
          <a:p>
            <a:pPr marL="279349" indent="-279349">
              <a:lnSpc>
                <a:spcPts val="2493"/>
              </a:lnSpc>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Consistent performance across variants suggests demand is product-led rather than promotion-led..</a:t>
            </a:r>
          </a:p>
          <a:p>
            <a:pPr marL="279349" indent="-279349">
              <a:lnSpc>
                <a:spcPts val="2493"/>
              </a:lnSpc>
              <a:buFont typeface="Arial" panose="020B0604020202020204" pitchFamily="34" charset="0"/>
              <a:buChar char="•"/>
            </a:pPr>
            <a:endParaRPr lang="en-US" sz="1955" dirty="0">
              <a:solidFill>
                <a:srgbClr val="CFCBBF"/>
              </a:solidFill>
              <a:latin typeface="Times New Roman" panose="02020603050405020304" pitchFamily="18" charset="0"/>
              <a:cs typeface="Times New Roman" panose="02020603050405020304" pitchFamily="18" charset="0"/>
            </a:endParaRPr>
          </a:p>
          <a:p>
            <a:pPr marL="279349" indent="-279349">
              <a:lnSpc>
                <a:spcPts val="2493"/>
              </a:lnSpc>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Focusing inventory, pricing, and marketing on these top SKUs can maximize revenue efficiency</a:t>
            </a:r>
            <a:endParaRPr lang="en-IN" sz="195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4234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4BD6B2-22D5-4001-86BF-D4C2F7E26D6A}"/>
              </a:ext>
            </a:extLst>
          </p:cNvPr>
          <p:cNvSpPr txBox="1"/>
          <p:nvPr/>
        </p:nvSpPr>
        <p:spPr>
          <a:xfrm>
            <a:off x="1189825" y="1116619"/>
            <a:ext cx="9079938" cy="792290"/>
          </a:xfrm>
          <a:prstGeom prst="rect">
            <a:avLst/>
          </a:prstGeom>
          <a:noFill/>
        </p:spPr>
        <p:txBody>
          <a:bodyPr wrap="square">
            <a:spAutoFit/>
          </a:bodyPr>
          <a:lstStyle/>
          <a:p>
            <a:pPr>
              <a:lnSpc>
                <a:spcPts val="5426"/>
              </a:lnSpc>
            </a:pPr>
            <a:r>
              <a:rPr lang="en-US" sz="5279"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Recommendations &amp; Insights</a:t>
            </a:r>
          </a:p>
        </p:txBody>
      </p:sp>
      <p:sp>
        <p:nvSpPr>
          <p:cNvPr id="4" name="Shape 1">
            <a:extLst>
              <a:ext uri="{FF2B5EF4-FFF2-40B4-BE49-F238E27FC236}">
                <a16:creationId xmlns:a16="http://schemas.microsoft.com/office/drawing/2014/main" id="{B2322BB0-BAAC-EE5A-583F-0E95E0DEF724}"/>
              </a:ext>
            </a:extLst>
          </p:cNvPr>
          <p:cNvSpPr/>
          <p:nvPr/>
        </p:nvSpPr>
        <p:spPr>
          <a:xfrm>
            <a:off x="1110247" y="2534401"/>
            <a:ext cx="6399829" cy="665172"/>
          </a:xfrm>
          <a:prstGeom prst="roundRect">
            <a:avLst>
              <a:gd name="adj" fmla="val 480029"/>
            </a:avLst>
          </a:prstGeom>
          <a:solidFill>
            <a:schemeClr val="accent2">
              <a:lumMod val="50000"/>
            </a:schemeClr>
          </a:solidFill>
          <a:ln/>
        </p:spPr>
        <p:txBody>
          <a:bodyPr/>
          <a:lstStyle/>
          <a:p>
            <a:endParaRPr lang="en-US" sz="2200"/>
          </a:p>
        </p:txBody>
      </p:sp>
      <p:pic>
        <p:nvPicPr>
          <p:cNvPr id="5" name="Image 0" descr="preencoded.png">
            <a:extLst>
              <a:ext uri="{FF2B5EF4-FFF2-40B4-BE49-F238E27FC236}">
                <a16:creationId xmlns:a16="http://schemas.microsoft.com/office/drawing/2014/main" id="{1A79764A-12A7-456E-026A-3AE77ADB2BF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76113" y="2700723"/>
            <a:ext cx="332528" cy="332528"/>
          </a:xfrm>
          <a:prstGeom prst="rect">
            <a:avLst/>
          </a:prstGeom>
        </p:spPr>
      </p:pic>
      <p:sp>
        <p:nvSpPr>
          <p:cNvPr id="6" name="Shape 4">
            <a:extLst>
              <a:ext uri="{FF2B5EF4-FFF2-40B4-BE49-F238E27FC236}">
                <a16:creationId xmlns:a16="http://schemas.microsoft.com/office/drawing/2014/main" id="{A2CE8DB7-2F9F-905A-793E-A3C11796A443}"/>
              </a:ext>
            </a:extLst>
          </p:cNvPr>
          <p:cNvSpPr/>
          <p:nvPr/>
        </p:nvSpPr>
        <p:spPr>
          <a:xfrm>
            <a:off x="8573519" y="2534401"/>
            <a:ext cx="6399830" cy="665172"/>
          </a:xfrm>
          <a:prstGeom prst="roundRect">
            <a:avLst>
              <a:gd name="adj" fmla="val 480029"/>
            </a:avLst>
          </a:prstGeom>
          <a:solidFill>
            <a:schemeClr val="accent2">
              <a:lumMod val="50000"/>
            </a:schemeClr>
          </a:solidFill>
          <a:ln/>
        </p:spPr>
        <p:txBody>
          <a:bodyPr/>
          <a:lstStyle/>
          <a:p>
            <a:endParaRPr lang="en-US" sz="2200" dirty="0"/>
          </a:p>
        </p:txBody>
      </p:sp>
      <p:pic>
        <p:nvPicPr>
          <p:cNvPr id="7" name="Image 1" descr="preencoded.png">
            <a:extLst>
              <a:ext uri="{FF2B5EF4-FFF2-40B4-BE49-F238E27FC236}">
                <a16:creationId xmlns:a16="http://schemas.microsoft.com/office/drawing/2014/main" id="{FA0E656E-EEB1-0930-3181-EA39992695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705648" y="2700723"/>
            <a:ext cx="332528" cy="332528"/>
          </a:xfrm>
          <a:prstGeom prst="rect">
            <a:avLst/>
          </a:prstGeom>
        </p:spPr>
      </p:pic>
      <p:sp>
        <p:nvSpPr>
          <p:cNvPr id="9" name="TextBox 8">
            <a:extLst>
              <a:ext uri="{FF2B5EF4-FFF2-40B4-BE49-F238E27FC236}">
                <a16:creationId xmlns:a16="http://schemas.microsoft.com/office/drawing/2014/main" id="{65772107-4B6B-203F-25F3-E31605C623ED}"/>
              </a:ext>
            </a:extLst>
          </p:cNvPr>
          <p:cNvSpPr txBox="1"/>
          <p:nvPr/>
        </p:nvSpPr>
        <p:spPr>
          <a:xfrm>
            <a:off x="1276569" y="3365895"/>
            <a:ext cx="6872983" cy="443470"/>
          </a:xfrm>
          <a:prstGeom prst="rect">
            <a:avLst/>
          </a:prstGeom>
          <a:noFill/>
        </p:spPr>
        <p:txBody>
          <a:bodyPr wrap="square">
            <a:spAutoFit/>
          </a:bodyPr>
          <a:lstStyle/>
          <a:p>
            <a:pPr>
              <a:lnSpc>
                <a:spcPts val="2688"/>
              </a:lnSpc>
            </a:pPr>
            <a:r>
              <a:rPr lang="en-US" sz="2737" dirty="0">
                <a:solidFill>
                  <a:srgbClr val="CFCBBF"/>
                </a:solidFill>
                <a:latin typeface="Times New Roman" panose="02020603050405020304" pitchFamily="18" charset="0"/>
                <a:ea typeface="Prata" pitchFamily="34" charset="-122"/>
                <a:cs typeface="Times New Roman" panose="02020603050405020304" pitchFamily="18" charset="0"/>
              </a:rPr>
              <a:t>Target High-Profit Customers</a:t>
            </a:r>
            <a:endParaRPr lang="en-US" sz="2737"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64D6CA0-B3B5-7E21-C6B3-28BCD43441B3}"/>
              </a:ext>
            </a:extLst>
          </p:cNvPr>
          <p:cNvSpPr txBox="1"/>
          <p:nvPr/>
        </p:nvSpPr>
        <p:spPr>
          <a:xfrm>
            <a:off x="1276569" y="3809365"/>
            <a:ext cx="6872983" cy="1138581"/>
          </a:xfrm>
          <a:prstGeom prst="rect">
            <a:avLst/>
          </a:prstGeom>
          <a:noFill/>
        </p:spPr>
        <p:txBody>
          <a:bodyPr wrap="square">
            <a:spAutoFit/>
          </a:bodyPr>
          <a:lstStyle/>
          <a:p>
            <a:pPr>
              <a:lnSpc>
                <a:spcPts val="2786"/>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A small group of customers contributes a major share of profit. Prioritizing retention and personalized engagement for these customers can maximize returns.</a:t>
            </a:r>
            <a:endParaRPr lang="en-US" sz="1955"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A17FB4C-11F9-A69E-FCE2-171F3284B1FC}"/>
              </a:ext>
            </a:extLst>
          </p:cNvPr>
          <p:cNvSpPr txBox="1"/>
          <p:nvPr/>
        </p:nvSpPr>
        <p:spPr>
          <a:xfrm>
            <a:off x="8709089" y="3365895"/>
            <a:ext cx="7219468" cy="441276"/>
          </a:xfrm>
          <a:prstGeom prst="rect">
            <a:avLst/>
          </a:prstGeom>
          <a:noFill/>
        </p:spPr>
        <p:txBody>
          <a:bodyPr wrap="square">
            <a:spAutoFit/>
          </a:bodyPr>
          <a:lstStyle/>
          <a:p>
            <a:pPr>
              <a:lnSpc>
                <a:spcPts val="2688"/>
              </a:lnSpc>
            </a:pPr>
            <a:r>
              <a:rPr lang="en-US" sz="2737" dirty="0">
                <a:solidFill>
                  <a:srgbClr val="CFCBBF"/>
                </a:solidFill>
                <a:latin typeface="Times New Roman" panose="02020603050405020304" pitchFamily="18" charset="0"/>
                <a:ea typeface="Prata" pitchFamily="34" charset="-122"/>
                <a:cs typeface="Times New Roman" panose="02020603050405020304" pitchFamily="18" charset="0"/>
              </a:rPr>
              <a:t>Optimize Product Inventory</a:t>
            </a:r>
            <a:endParaRPr lang="en-US" sz="2737"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EE6082F-B252-6231-B331-BFA579725CD1}"/>
              </a:ext>
            </a:extLst>
          </p:cNvPr>
          <p:cNvSpPr txBox="1"/>
          <p:nvPr/>
        </p:nvSpPr>
        <p:spPr>
          <a:xfrm>
            <a:off x="8795766" y="3807172"/>
            <a:ext cx="6090904" cy="692000"/>
          </a:xfrm>
          <a:prstGeom prst="rect">
            <a:avLst/>
          </a:prstGeom>
          <a:noFill/>
        </p:spPr>
        <p:txBody>
          <a:bodyPr wrap="square">
            <a:spAutoFit/>
          </a:bodyPr>
          <a:lstStyle/>
          <a:p>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Increase stock levels for top-selling products to meet demand and prevent stockouts</a:t>
            </a:r>
            <a:endParaRPr lang="en-IN" sz="1955" dirty="0">
              <a:latin typeface="Times New Roman" panose="02020603050405020304" pitchFamily="18" charset="0"/>
              <a:cs typeface="Times New Roman" panose="02020603050405020304" pitchFamily="18" charset="0"/>
            </a:endParaRPr>
          </a:p>
        </p:txBody>
      </p:sp>
      <p:sp>
        <p:nvSpPr>
          <p:cNvPr id="16" name="Shape 7">
            <a:extLst>
              <a:ext uri="{FF2B5EF4-FFF2-40B4-BE49-F238E27FC236}">
                <a16:creationId xmlns:a16="http://schemas.microsoft.com/office/drawing/2014/main" id="{39821ABD-49B4-19A0-66C2-C8E14C864FDC}"/>
              </a:ext>
            </a:extLst>
          </p:cNvPr>
          <p:cNvSpPr/>
          <p:nvPr/>
        </p:nvSpPr>
        <p:spPr>
          <a:xfrm>
            <a:off x="1110247" y="5078686"/>
            <a:ext cx="6399829" cy="665172"/>
          </a:xfrm>
          <a:prstGeom prst="roundRect">
            <a:avLst>
              <a:gd name="adj" fmla="val 480029"/>
            </a:avLst>
          </a:prstGeom>
          <a:solidFill>
            <a:schemeClr val="accent2">
              <a:lumMod val="50000"/>
            </a:schemeClr>
          </a:solidFill>
          <a:ln/>
        </p:spPr>
        <p:txBody>
          <a:bodyPr/>
          <a:lstStyle/>
          <a:p>
            <a:endParaRPr lang="en-US" sz="2200"/>
          </a:p>
        </p:txBody>
      </p:sp>
      <p:pic>
        <p:nvPicPr>
          <p:cNvPr id="17" name="Image 2" descr="preencoded.png">
            <a:extLst>
              <a:ext uri="{FF2B5EF4-FFF2-40B4-BE49-F238E27FC236}">
                <a16:creationId xmlns:a16="http://schemas.microsoft.com/office/drawing/2014/main" id="{9680D490-B029-A951-7FD5-11F1EB47CE1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6113" y="5245008"/>
            <a:ext cx="332528" cy="332528"/>
          </a:xfrm>
          <a:prstGeom prst="rect">
            <a:avLst/>
          </a:prstGeom>
        </p:spPr>
      </p:pic>
      <p:sp>
        <p:nvSpPr>
          <p:cNvPr id="19" name="TextBox 18">
            <a:extLst>
              <a:ext uri="{FF2B5EF4-FFF2-40B4-BE49-F238E27FC236}">
                <a16:creationId xmlns:a16="http://schemas.microsoft.com/office/drawing/2014/main" id="{BB0815F9-2B14-0E1D-30ED-F1CDDFC25D65}"/>
              </a:ext>
            </a:extLst>
          </p:cNvPr>
          <p:cNvSpPr txBox="1"/>
          <p:nvPr/>
        </p:nvSpPr>
        <p:spPr>
          <a:xfrm>
            <a:off x="1276569" y="5852637"/>
            <a:ext cx="7493897" cy="441276"/>
          </a:xfrm>
          <a:prstGeom prst="rect">
            <a:avLst/>
          </a:prstGeom>
          <a:noFill/>
        </p:spPr>
        <p:txBody>
          <a:bodyPr wrap="square">
            <a:spAutoFit/>
          </a:bodyPr>
          <a:lstStyle/>
          <a:p>
            <a:pPr>
              <a:lnSpc>
                <a:spcPts val="2688"/>
              </a:lnSpc>
            </a:pPr>
            <a:r>
              <a:rPr lang="en-US" sz="2737" dirty="0">
                <a:solidFill>
                  <a:srgbClr val="CFCBBF"/>
                </a:solidFill>
                <a:latin typeface="Times New Roman" panose="02020603050405020304" pitchFamily="18" charset="0"/>
                <a:ea typeface="Prata" pitchFamily="34" charset="-122"/>
                <a:cs typeface="Times New Roman" panose="02020603050405020304" pitchFamily="18" charset="0"/>
              </a:rPr>
              <a:t>Enhance Cost Efficiency</a:t>
            </a:r>
            <a:endParaRPr lang="en-US" sz="2737"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66F875D-99D6-02EE-E8FF-7ACC621AEFEE}"/>
              </a:ext>
            </a:extLst>
          </p:cNvPr>
          <p:cNvSpPr txBox="1"/>
          <p:nvPr/>
        </p:nvSpPr>
        <p:spPr>
          <a:xfrm>
            <a:off x="1189825" y="6250012"/>
            <a:ext cx="7580642" cy="1169551"/>
          </a:xfrm>
          <a:prstGeom prst="rect">
            <a:avLst/>
          </a:prstGeom>
          <a:noFill/>
        </p:spPr>
        <p:txBody>
          <a:bodyPr wrap="square">
            <a:spAutoFit/>
          </a:bodyPr>
          <a:lstStyle/>
          <a:p>
            <a:pPr>
              <a:lnSpc>
                <a:spcPts val="2786"/>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Some regions and products show low or zero profitability. Reviewing costs in these areas can help improve margins or guide strategic adjustments</a:t>
            </a:r>
            <a:r>
              <a:rPr lang="en-US" sz="2346" dirty="0">
                <a:solidFill>
                  <a:srgbClr val="CFCBBF"/>
                </a:solidFill>
                <a:latin typeface="Times New Roman" panose="02020603050405020304" pitchFamily="18" charset="0"/>
                <a:ea typeface="Raleway" pitchFamily="34" charset="-122"/>
                <a:cs typeface="Times New Roman" panose="02020603050405020304" pitchFamily="18" charset="0"/>
              </a:rPr>
              <a:t>.</a:t>
            </a:r>
            <a:endParaRPr lang="en-US" sz="2346" dirty="0">
              <a:latin typeface="Times New Roman" panose="02020603050405020304" pitchFamily="18" charset="0"/>
              <a:cs typeface="Times New Roman" panose="02020603050405020304" pitchFamily="18" charset="0"/>
            </a:endParaRPr>
          </a:p>
        </p:txBody>
      </p:sp>
      <p:sp>
        <p:nvSpPr>
          <p:cNvPr id="22" name="Shape 10">
            <a:extLst>
              <a:ext uri="{FF2B5EF4-FFF2-40B4-BE49-F238E27FC236}">
                <a16:creationId xmlns:a16="http://schemas.microsoft.com/office/drawing/2014/main" id="{3218FDE1-DB8F-0D41-BA0E-2E5B40BC569C}"/>
              </a:ext>
            </a:extLst>
          </p:cNvPr>
          <p:cNvSpPr/>
          <p:nvPr/>
        </p:nvSpPr>
        <p:spPr>
          <a:xfrm>
            <a:off x="8690890" y="5021143"/>
            <a:ext cx="6282457" cy="665172"/>
          </a:xfrm>
          <a:prstGeom prst="roundRect">
            <a:avLst>
              <a:gd name="adj" fmla="val 480029"/>
            </a:avLst>
          </a:prstGeom>
          <a:solidFill>
            <a:schemeClr val="accent2">
              <a:lumMod val="50000"/>
            </a:schemeClr>
          </a:solidFill>
          <a:ln/>
        </p:spPr>
        <p:txBody>
          <a:bodyPr/>
          <a:lstStyle/>
          <a:p>
            <a:endParaRPr lang="en-US" sz="2200" dirty="0"/>
          </a:p>
        </p:txBody>
      </p:sp>
      <p:pic>
        <p:nvPicPr>
          <p:cNvPr id="23" name="Image 3" descr="preencoded.png">
            <a:extLst>
              <a:ext uri="{FF2B5EF4-FFF2-40B4-BE49-F238E27FC236}">
                <a16:creationId xmlns:a16="http://schemas.microsoft.com/office/drawing/2014/main" id="{928A85EE-8405-202B-88AF-AA96A748948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508689" y="5239517"/>
            <a:ext cx="332528" cy="332528"/>
          </a:xfrm>
          <a:prstGeom prst="rect">
            <a:avLst/>
          </a:prstGeom>
        </p:spPr>
      </p:pic>
      <p:sp>
        <p:nvSpPr>
          <p:cNvPr id="25" name="TextBox 24">
            <a:extLst>
              <a:ext uri="{FF2B5EF4-FFF2-40B4-BE49-F238E27FC236}">
                <a16:creationId xmlns:a16="http://schemas.microsoft.com/office/drawing/2014/main" id="{9C25C89D-AE31-84BB-3868-7F5E4864C721}"/>
              </a:ext>
            </a:extLst>
          </p:cNvPr>
          <p:cNvSpPr txBox="1"/>
          <p:nvPr/>
        </p:nvSpPr>
        <p:spPr>
          <a:xfrm>
            <a:off x="8882444" y="5762036"/>
            <a:ext cx="7493897" cy="441276"/>
          </a:xfrm>
          <a:prstGeom prst="rect">
            <a:avLst/>
          </a:prstGeom>
          <a:noFill/>
        </p:spPr>
        <p:txBody>
          <a:bodyPr wrap="square">
            <a:spAutoFit/>
          </a:bodyPr>
          <a:lstStyle/>
          <a:p>
            <a:pPr>
              <a:lnSpc>
                <a:spcPts val="2688"/>
              </a:lnSpc>
            </a:pPr>
            <a:r>
              <a:rPr lang="en-US" sz="2737" dirty="0">
                <a:solidFill>
                  <a:srgbClr val="CFCBBF"/>
                </a:solidFill>
                <a:latin typeface="Times New Roman" panose="02020603050405020304" pitchFamily="18" charset="0"/>
                <a:ea typeface="Prata" pitchFamily="34" charset="-122"/>
                <a:cs typeface="Times New Roman" panose="02020603050405020304" pitchFamily="18" charset="0"/>
              </a:rPr>
              <a:t>Expand Digital Sales</a:t>
            </a:r>
            <a:endParaRPr lang="en-US" sz="2737"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42E1F518-FCE6-DA44-080A-190E7B002C8B}"/>
              </a:ext>
            </a:extLst>
          </p:cNvPr>
          <p:cNvSpPr txBox="1"/>
          <p:nvPr/>
        </p:nvSpPr>
        <p:spPr>
          <a:xfrm>
            <a:off x="8992649" y="6249910"/>
            <a:ext cx="5678808" cy="779379"/>
          </a:xfrm>
          <a:prstGeom prst="rect">
            <a:avLst/>
          </a:prstGeom>
          <a:noFill/>
        </p:spPr>
        <p:txBody>
          <a:bodyPr wrap="square">
            <a:spAutoFit/>
          </a:bodyPr>
          <a:lstStyle/>
          <a:p>
            <a:pPr>
              <a:lnSpc>
                <a:spcPts val="2786"/>
              </a:lnSpc>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Invest in and grow online sales channels to reach a broader audience and improve accessibility.</a:t>
            </a:r>
            <a:endParaRPr lang="en-US" sz="195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064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A1040B-D447-76F9-7E3F-535939745B8B}"/>
              </a:ext>
            </a:extLst>
          </p:cNvPr>
          <p:cNvPicPr>
            <a:picLocks noChangeAspect="1"/>
          </p:cNvPicPr>
          <p:nvPr/>
        </p:nvPicPr>
        <p:blipFill>
          <a:blip r:embed="rId2"/>
          <a:stretch>
            <a:fillRect/>
          </a:stretch>
        </p:blipFill>
        <p:spPr>
          <a:xfrm>
            <a:off x="-1" y="1014608"/>
            <a:ext cx="15948025" cy="7189940"/>
          </a:xfrm>
          <a:prstGeom prst="rect">
            <a:avLst/>
          </a:prstGeom>
        </p:spPr>
      </p:pic>
      <p:sp>
        <p:nvSpPr>
          <p:cNvPr id="5" name="TextBox 4">
            <a:extLst>
              <a:ext uri="{FF2B5EF4-FFF2-40B4-BE49-F238E27FC236}">
                <a16:creationId xmlns:a16="http://schemas.microsoft.com/office/drawing/2014/main" id="{8FCAD4F1-36D2-8123-8021-52FD2BFFA8A2}"/>
              </a:ext>
            </a:extLst>
          </p:cNvPr>
          <p:cNvSpPr txBox="1"/>
          <p:nvPr/>
        </p:nvSpPr>
        <p:spPr>
          <a:xfrm>
            <a:off x="-1" y="0"/>
            <a:ext cx="15948023" cy="769441"/>
          </a:xfrm>
          <a:prstGeom prst="rect">
            <a:avLst/>
          </a:prstGeom>
          <a:noFill/>
        </p:spPr>
        <p:txBody>
          <a:bodyPr wrap="square" rtlCol="0">
            <a:spAutoFit/>
          </a:bodyPr>
          <a:lstStyle/>
          <a:p>
            <a:r>
              <a:rPr lang="en-IN" dirty="0"/>
              <a:t>                                                                                       </a:t>
            </a:r>
            <a:r>
              <a:rPr lang="en-IN" sz="4400" dirty="0">
                <a:latin typeface="Times New Roman" panose="02020603050405020304" pitchFamily="18" charset="0"/>
                <a:cs typeface="Times New Roman" panose="02020603050405020304" pitchFamily="18" charset="0"/>
              </a:rPr>
              <a:t>EXCEL DASHBOARD</a:t>
            </a:r>
          </a:p>
        </p:txBody>
      </p:sp>
    </p:spTree>
    <p:extLst>
      <p:ext uri="{BB962C8B-B14F-4D97-AF65-F5344CB8AC3E}">
        <p14:creationId xmlns:p14="http://schemas.microsoft.com/office/powerpoint/2010/main" val="1336386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16B3E1-2E75-ABE0-F879-40E1E40F6861}"/>
              </a:ext>
            </a:extLst>
          </p:cNvPr>
          <p:cNvPicPr>
            <a:picLocks noChangeAspect="1"/>
          </p:cNvPicPr>
          <p:nvPr/>
        </p:nvPicPr>
        <p:blipFill>
          <a:blip r:embed="rId2"/>
          <a:stretch>
            <a:fillRect/>
          </a:stretch>
        </p:blipFill>
        <p:spPr>
          <a:xfrm>
            <a:off x="41307" y="808095"/>
            <a:ext cx="15906718" cy="6824909"/>
          </a:xfrm>
          <a:prstGeom prst="rect">
            <a:avLst/>
          </a:prstGeom>
        </p:spPr>
      </p:pic>
      <p:sp>
        <p:nvSpPr>
          <p:cNvPr id="2" name="TextBox 1">
            <a:extLst>
              <a:ext uri="{FF2B5EF4-FFF2-40B4-BE49-F238E27FC236}">
                <a16:creationId xmlns:a16="http://schemas.microsoft.com/office/drawing/2014/main" id="{F0E93CB7-CD78-F1E8-44A6-3F7619BDA572}"/>
              </a:ext>
            </a:extLst>
          </p:cNvPr>
          <p:cNvSpPr txBox="1"/>
          <p:nvPr/>
        </p:nvSpPr>
        <p:spPr>
          <a:xfrm>
            <a:off x="41308" y="100209"/>
            <a:ext cx="15791592" cy="707886"/>
          </a:xfrm>
          <a:prstGeom prst="rect">
            <a:avLst/>
          </a:prstGeom>
          <a:noFill/>
        </p:spPr>
        <p:txBody>
          <a:bodyPr wrap="square" rtlCol="0">
            <a:spAutoFit/>
          </a:bodyPr>
          <a:lstStyle/>
          <a:p>
            <a:r>
              <a:rPr lang="en-IN" dirty="0"/>
              <a:t>                                                                               </a:t>
            </a:r>
            <a:r>
              <a:rPr lang="en-IN" sz="4000" dirty="0">
                <a:latin typeface="Times New Roman" panose="02020603050405020304" pitchFamily="18" charset="0"/>
                <a:cs typeface="Times New Roman" panose="02020603050405020304" pitchFamily="18" charset="0"/>
              </a:rPr>
              <a:t>POWER BI DASHBOARD</a:t>
            </a:r>
          </a:p>
        </p:txBody>
      </p:sp>
    </p:spTree>
    <p:extLst>
      <p:ext uri="{BB962C8B-B14F-4D97-AF65-F5344CB8AC3E}">
        <p14:creationId xmlns:p14="http://schemas.microsoft.com/office/powerpoint/2010/main" val="1854318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285089-367C-392B-C538-BB6558AEB404}"/>
              </a:ext>
            </a:extLst>
          </p:cNvPr>
          <p:cNvPicPr>
            <a:picLocks noChangeAspect="1"/>
          </p:cNvPicPr>
          <p:nvPr/>
        </p:nvPicPr>
        <p:blipFill>
          <a:blip r:embed="rId2"/>
          <a:stretch>
            <a:fillRect/>
          </a:stretch>
        </p:blipFill>
        <p:spPr>
          <a:xfrm>
            <a:off x="41307" y="864296"/>
            <a:ext cx="8082165" cy="7507744"/>
          </a:xfrm>
          <a:prstGeom prst="rect">
            <a:avLst/>
          </a:prstGeom>
        </p:spPr>
      </p:pic>
      <p:pic>
        <p:nvPicPr>
          <p:cNvPr id="5" name="Picture 4">
            <a:extLst>
              <a:ext uri="{FF2B5EF4-FFF2-40B4-BE49-F238E27FC236}">
                <a16:creationId xmlns:a16="http://schemas.microsoft.com/office/drawing/2014/main" id="{45C8770B-C086-E6E2-EF38-8F3E5902EDA7}"/>
              </a:ext>
            </a:extLst>
          </p:cNvPr>
          <p:cNvPicPr>
            <a:picLocks noChangeAspect="1"/>
          </p:cNvPicPr>
          <p:nvPr/>
        </p:nvPicPr>
        <p:blipFill>
          <a:blip r:embed="rId3"/>
          <a:stretch>
            <a:fillRect/>
          </a:stretch>
        </p:blipFill>
        <p:spPr>
          <a:xfrm>
            <a:off x="8123472" y="864296"/>
            <a:ext cx="7824553" cy="7883525"/>
          </a:xfrm>
          <a:prstGeom prst="rect">
            <a:avLst/>
          </a:prstGeom>
        </p:spPr>
      </p:pic>
      <p:sp>
        <p:nvSpPr>
          <p:cNvPr id="2" name="TextBox 1">
            <a:extLst>
              <a:ext uri="{FF2B5EF4-FFF2-40B4-BE49-F238E27FC236}">
                <a16:creationId xmlns:a16="http://schemas.microsoft.com/office/drawing/2014/main" id="{E4A5DC10-B51C-87A0-384E-DFA8CABCCC49}"/>
              </a:ext>
            </a:extLst>
          </p:cNvPr>
          <p:cNvSpPr txBox="1"/>
          <p:nvPr/>
        </p:nvSpPr>
        <p:spPr>
          <a:xfrm>
            <a:off x="6236198" y="0"/>
            <a:ext cx="5599134" cy="769441"/>
          </a:xfrm>
          <a:prstGeom prst="rect">
            <a:avLst/>
          </a:prstGeom>
          <a:noFill/>
        </p:spPr>
        <p:txBody>
          <a:bodyPr wrap="square" rtlCol="0">
            <a:spAutoFit/>
          </a:bodyPr>
          <a:lstStyle/>
          <a:p>
            <a:r>
              <a:rPr lang="en-IN" sz="4400" dirty="0">
                <a:solidFill>
                  <a:schemeClr val="accent5">
                    <a:lumMod val="60000"/>
                    <a:lumOff val="40000"/>
                  </a:schemeClr>
                </a:solidFill>
                <a:latin typeface="Times New Roman" panose="02020603050405020304" pitchFamily="18" charset="0"/>
                <a:cs typeface="Times New Roman" panose="02020603050405020304" pitchFamily="18" charset="0"/>
              </a:rPr>
              <a:t>MYSQL SCRIPT FILE</a:t>
            </a:r>
          </a:p>
        </p:txBody>
      </p:sp>
    </p:spTree>
    <p:extLst>
      <p:ext uri="{BB962C8B-B14F-4D97-AF65-F5344CB8AC3E}">
        <p14:creationId xmlns:p14="http://schemas.microsoft.com/office/powerpoint/2010/main" val="3268660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460973-775C-0F00-3135-AB37BDB5A24F}"/>
              </a:ext>
            </a:extLst>
          </p:cNvPr>
          <p:cNvPicPr>
            <a:picLocks noChangeAspect="1"/>
          </p:cNvPicPr>
          <p:nvPr/>
        </p:nvPicPr>
        <p:blipFill>
          <a:blip r:embed="rId2"/>
          <a:stretch>
            <a:fillRect/>
          </a:stretch>
        </p:blipFill>
        <p:spPr>
          <a:xfrm>
            <a:off x="20653" y="-1"/>
            <a:ext cx="7821451" cy="7883525"/>
          </a:xfrm>
          <a:prstGeom prst="rect">
            <a:avLst/>
          </a:prstGeom>
        </p:spPr>
      </p:pic>
      <p:pic>
        <p:nvPicPr>
          <p:cNvPr id="5" name="Picture 4">
            <a:extLst>
              <a:ext uri="{FF2B5EF4-FFF2-40B4-BE49-F238E27FC236}">
                <a16:creationId xmlns:a16="http://schemas.microsoft.com/office/drawing/2014/main" id="{E227B05F-BA98-6C3E-DAE5-6176E3098EAD}"/>
              </a:ext>
            </a:extLst>
          </p:cNvPr>
          <p:cNvPicPr>
            <a:picLocks noChangeAspect="1"/>
          </p:cNvPicPr>
          <p:nvPr/>
        </p:nvPicPr>
        <p:blipFill>
          <a:blip r:embed="rId3"/>
          <a:stretch>
            <a:fillRect/>
          </a:stretch>
        </p:blipFill>
        <p:spPr>
          <a:xfrm>
            <a:off x="7817274" y="-1"/>
            <a:ext cx="8110098" cy="7883525"/>
          </a:xfrm>
          <a:prstGeom prst="rect">
            <a:avLst/>
          </a:prstGeom>
        </p:spPr>
      </p:pic>
    </p:spTree>
    <p:extLst>
      <p:ext uri="{BB962C8B-B14F-4D97-AF65-F5344CB8AC3E}">
        <p14:creationId xmlns:p14="http://schemas.microsoft.com/office/powerpoint/2010/main" val="2392806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AE5A68-A12F-387E-7D6A-BDE73F3E04CC}"/>
              </a:ext>
            </a:extLst>
          </p:cNvPr>
          <p:cNvPicPr>
            <a:picLocks noChangeAspect="1"/>
          </p:cNvPicPr>
          <p:nvPr/>
        </p:nvPicPr>
        <p:blipFill>
          <a:blip r:embed="rId2"/>
          <a:stretch>
            <a:fillRect/>
          </a:stretch>
        </p:blipFill>
        <p:spPr>
          <a:xfrm>
            <a:off x="0" y="769441"/>
            <a:ext cx="15948025" cy="7445114"/>
          </a:xfrm>
          <a:prstGeom prst="rect">
            <a:avLst/>
          </a:prstGeom>
        </p:spPr>
      </p:pic>
      <p:sp>
        <p:nvSpPr>
          <p:cNvPr id="4" name="TextBox 3">
            <a:extLst>
              <a:ext uri="{FF2B5EF4-FFF2-40B4-BE49-F238E27FC236}">
                <a16:creationId xmlns:a16="http://schemas.microsoft.com/office/drawing/2014/main" id="{D667EB4F-F5CA-EE18-9E21-A7F49B5836CE}"/>
              </a:ext>
            </a:extLst>
          </p:cNvPr>
          <p:cNvSpPr txBox="1"/>
          <p:nvPr/>
        </p:nvSpPr>
        <p:spPr>
          <a:xfrm>
            <a:off x="100207" y="0"/>
            <a:ext cx="15757743" cy="769441"/>
          </a:xfrm>
          <a:prstGeom prst="rect">
            <a:avLst/>
          </a:prstGeom>
          <a:noFill/>
        </p:spPr>
        <p:txBody>
          <a:bodyPr wrap="square" rtlCol="0">
            <a:spAutoFit/>
          </a:bodyPr>
          <a:lstStyle/>
          <a:p>
            <a:pPr algn="ctr"/>
            <a:r>
              <a:rPr lang="en-IN" sz="4400" dirty="0">
                <a:latin typeface="Times New Roman" panose="02020603050405020304" pitchFamily="18" charset="0"/>
                <a:cs typeface="Times New Roman" panose="02020603050405020304" pitchFamily="18" charset="0"/>
              </a:rPr>
              <a:t>TABLEAU DASHBOARD</a:t>
            </a:r>
          </a:p>
        </p:txBody>
      </p:sp>
    </p:spTree>
    <p:extLst>
      <p:ext uri="{BB962C8B-B14F-4D97-AF65-F5344CB8AC3E}">
        <p14:creationId xmlns:p14="http://schemas.microsoft.com/office/powerpoint/2010/main" val="2534553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C59D45F-6173-9D6B-DB7B-140C7D6FB7E7}"/>
              </a:ext>
            </a:extLst>
          </p:cNvPr>
          <p:cNvSpPr/>
          <p:nvPr/>
        </p:nvSpPr>
        <p:spPr>
          <a:xfrm>
            <a:off x="7399647" y="111466"/>
            <a:ext cx="7248809" cy="569500"/>
          </a:xfrm>
          <a:prstGeom prst="rect">
            <a:avLst/>
          </a:prstGeom>
          <a:noFill/>
          <a:ln/>
        </p:spPr>
        <p:txBody>
          <a:bodyPr wrap="none" lIns="0" tIns="0" rIns="0" bIns="0" rtlCol="0" anchor="t"/>
          <a:lstStyle/>
          <a:p>
            <a:pPr>
              <a:lnSpc>
                <a:spcPts val="5426"/>
              </a:lnSpc>
            </a:pPr>
            <a:r>
              <a:rPr lang="en-US" sz="3568"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Key Takeaways &amp; Future Outlook</a:t>
            </a:r>
          </a:p>
        </p:txBody>
      </p:sp>
      <p:sp>
        <p:nvSpPr>
          <p:cNvPr id="4" name="TextBox 3">
            <a:extLst>
              <a:ext uri="{FF2B5EF4-FFF2-40B4-BE49-F238E27FC236}">
                <a16:creationId xmlns:a16="http://schemas.microsoft.com/office/drawing/2014/main" id="{9C892D22-B24C-D738-7CF5-2A8B5E28F6CE}"/>
              </a:ext>
            </a:extLst>
          </p:cNvPr>
          <p:cNvSpPr txBox="1"/>
          <p:nvPr/>
        </p:nvSpPr>
        <p:spPr>
          <a:xfrm>
            <a:off x="7605002" y="1061862"/>
            <a:ext cx="2549909" cy="688866"/>
          </a:xfrm>
          <a:prstGeom prst="rect">
            <a:avLst/>
          </a:prstGeom>
          <a:noFill/>
        </p:spPr>
        <p:txBody>
          <a:bodyPr wrap="square">
            <a:spAutoFit/>
          </a:bodyPr>
          <a:lstStyle/>
          <a:p>
            <a:pPr>
              <a:lnSpc>
                <a:spcPts val="2200"/>
              </a:lnSpc>
            </a:pPr>
            <a:r>
              <a:rPr lang="en-US" sz="3128" dirty="0">
                <a:solidFill>
                  <a:srgbClr val="F2E782"/>
                </a:solidFill>
                <a:latin typeface="Times New Roman" panose="02020603050405020304" pitchFamily="18" charset="0"/>
                <a:ea typeface="Prata" pitchFamily="34" charset="-122"/>
                <a:cs typeface="Times New Roman" panose="02020603050405020304" pitchFamily="18" charset="0"/>
              </a:rPr>
              <a:t>Challenges Overcome</a:t>
            </a:r>
            <a:endParaRPr lang="en-US" sz="3128"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2987686-40FD-C716-B219-8D182C737D27}"/>
              </a:ext>
            </a:extLst>
          </p:cNvPr>
          <p:cNvSpPr txBox="1"/>
          <p:nvPr/>
        </p:nvSpPr>
        <p:spPr>
          <a:xfrm>
            <a:off x="11024051" y="1093391"/>
            <a:ext cx="3096262" cy="388749"/>
          </a:xfrm>
          <a:prstGeom prst="rect">
            <a:avLst/>
          </a:prstGeom>
          <a:noFill/>
        </p:spPr>
        <p:txBody>
          <a:bodyPr wrap="square">
            <a:spAutoFit/>
          </a:bodyPr>
          <a:lstStyle/>
          <a:p>
            <a:pPr>
              <a:lnSpc>
                <a:spcPts val="2200"/>
              </a:lnSpc>
            </a:pPr>
            <a:r>
              <a:rPr lang="en-US" sz="2737" dirty="0">
                <a:solidFill>
                  <a:srgbClr val="F2E782"/>
                </a:solidFill>
                <a:latin typeface="Times New Roman" panose="02020603050405020304" pitchFamily="18" charset="0"/>
                <a:cs typeface="Times New Roman" panose="02020603050405020304" pitchFamily="18" charset="0"/>
              </a:rPr>
              <a:t>Learnings</a:t>
            </a:r>
            <a:r>
              <a:rPr lang="en-US" sz="2737" dirty="0">
                <a:solidFill>
                  <a:srgbClr val="F2E782"/>
                </a:solidFill>
                <a:latin typeface="Times New Roman" panose="02020603050405020304" pitchFamily="18" charset="0"/>
                <a:ea typeface="Prata" pitchFamily="34" charset="-122"/>
                <a:cs typeface="Times New Roman" panose="02020603050405020304" pitchFamily="18" charset="0"/>
              </a:rPr>
              <a:t> &amp; </a:t>
            </a:r>
            <a:r>
              <a:rPr lang="en-US" sz="2737" dirty="0">
                <a:solidFill>
                  <a:srgbClr val="F2E782"/>
                </a:solidFill>
                <a:latin typeface="Times New Roman" panose="02020603050405020304" pitchFamily="18" charset="0"/>
                <a:cs typeface="Times New Roman" panose="02020603050405020304" pitchFamily="18" charset="0"/>
              </a:rPr>
              <a:t>Impact</a:t>
            </a:r>
          </a:p>
        </p:txBody>
      </p:sp>
      <p:sp>
        <p:nvSpPr>
          <p:cNvPr id="8" name="TextBox 7">
            <a:extLst>
              <a:ext uri="{FF2B5EF4-FFF2-40B4-BE49-F238E27FC236}">
                <a16:creationId xmlns:a16="http://schemas.microsoft.com/office/drawing/2014/main" id="{5F5EE4D8-FE3B-A54C-64E7-4F1C22EB711A}"/>
              </a:ext>
            </a:extLst>
          </p:cNvPr>
          <p:cNvSpPr txBox="1"/>
          <p:nvPr/>
        </p:nvSpPr>
        <p:spPr>
          <a:xfrm>
            <a:off x="7399648" y="1837303"/>
            <a:ext cx="2549909" cy="1220847"/>
          </a:xfrm>
          <a:prstGeom prst="rect">
            <a:avLst/>
          </a:prstGeom>
          <a:noFill/>
        </p:spPr>
        <p:txBody>
          <a:bodyPr wrap="square">
            <a:spAutoFit/>
          </a:bodyPr>
          <a:lstStyle/>
          <a:p>
            <a:pPr marL="335219" indent="-335219">
              <a:lnSpc>
                <a:spcPts val="2248"/>
              </a:lnSpc>
              <a:buSzPct val="100000"/>
              <a:buChar char="•"/>
            </a:pP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Designing dynamic dashboards with slicers, filters, and bookmarks.</a:t>
            </a:r>
            <a:endParaRPr lang="en-US" sz="1955"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14384F7-CE79-2A74-ADA8-2AA474D837DE}"/>
              </a:ext>
            </a:extLst>
          </p:cNvPr>
          <p:cNvSpPr txBox="1"/>
          <p:nvPr/>
        </p:nvSpPr>
        <p:spPr>
          <a:xfrm>
            <a:off x="7399647" y="3386771"/>
            <a:ext cx="3086238" cy="948034"/>
          </a:xfrm>
          <a:prstGeom prst="rect">
            <a:avLst/>
          </a:prstGeom>
          <a:noFill/>
        </p:spPr>
        <p:txBody>
          <a:bodyPr wrap="square">
            <a:spAutoFit/>
          </a:bodyPr>
          <a:lstStyle/>
          <a:p>
            <a:pPr marL="335219" indent="-335219">
              <a:lnSpc>
                <a:spcPts val="2248"/>
              </a:lnSpc>
              <a:buSzPct val="100000"/>
              <a:buChar char="•"/>
            </a:pPr>
            <a:r>
              <a:rPr lang="en-US" sz="1955" dirty="0">
                <a:solidFill>
                  <a:srgbClr val="CFCBBF"/>
                </a:solidFill>
                <a:latin typeface="Times New Roman" panose="02020603050405020304" pitchFamily="18" charset="0"/>
                <a:cs typeface="Times New Roman" panose="02020603050405020304" pitchFamily="18" charset="0"/>
              </a:rPr>
              <a:t>Resolving inconsistent date formats and granularity issues.</a:t>
            </a:r>
          </a:p>
        </p:txBody>
      </p:sp>
      <p:sp>
        <p:nvSpPr>
          <p:cNvPr id="12" name="TextBox 11">
            <a:extLst>
              <a:ext uri="{FF2B5EF4-FFF2-40B4-BE49-F238E27FC236}">
                <a16:creationId xmlns:a16="http://schemas.microsoft.com/office/drawing/2014/main" id="{53294EE7-3594-2EB7-5A24-CAF345F108AE}"/>
              </a:ext>
            </a:extLst>
          </p:cNvPr>
          <p:cNvSpPr txBox="1"/>
          <p:nvPr/>
        </p:nvSpPr>
        <p:spPr>
          <a:xfrm>
            <a:off x="7399649" y="4640678"/>
            <a:ext cx="3217969" cy="938719"/>
          </a:xfrm>
          <a:prstGeom prst="rect">
            <a:avLst/>
          </a:prstGeom>
          <a:noFill/>
        </p:spPr>
        <p:txBody>
          <a:bodyPr wrap="square">
            <a:spAutoFit/>
          </a:bodyPr>
          <a:lstStyle/>
          <a:p>
            <a:pPr marL="335219" indent="-335219">
              <a:lnSpc>
                <a:spcPts val="2248"/>
              </a:lnSpc>
              <a:buSzPct val="100000"/>
              <a:buChar char="•"/>
            </a:pPr>
            <a:r>
              <a:rPr lang="en-US" sz="1955" dirty="0">
                <a:solidFill>
                  <a:srgbClr val="CFCBBF"/>
                </a:solidFill>
                <a:latin typeface="Times New Roman" panose="02020603050405020304" pitchFamily="18" charset="0"/>
                <a:cs typeface="Times New Roman" panose="02020603050405020304" pitchFamily="18" charset="0"/>
              </a:rPr>
              <a:t>Developing accurate DAX measures for reliable insights.</a:t>
            </a:r>
          </a:p>
        </p:txBody>
      </p:sp>
      <p:sp>
        <p:nvSpPr>
          <p:cNvPr id="14" name="TextBox 13">
            <a:extLst>
              <a:ext uri="{FF2B5EF4-FFF2-40B4-BE49-F238E27FC236}">
                <a16:creationId xmlns:a16="http://schemas.microsoft.com/office/drawing/2014/main" id="{E3A93799-8F69-A0E6-4B85-5F0F06577B82}"/>
              </a:ext>
            </a:extLst>
          </p:cNvPr>
          <p:cNvSpPr txBox="1"/>
          <p:nvPr/>
        </p:nvSpPr>
        <p:spPr>
          <a:xfrm>
            <a:off x="7399647" y="5976837"/>
            <a:ext cx="3217970" cy="938719"/>
          </a:xfrm>
          <a:prstGeom prst="rect">
            <a:avLst/>
          </a:prstGeom>
          <a:noFill/>
        </p:spPr>
        <p:txBody>
          <a:bodyPr wrap="square">
            <a:spAutoFit/>
          </a:bodyPr>
          <a:lstStyle/>
          <a:p>
            <a:pPr marL="335219" indent="-335219">
              <a:lnSpc>
                <a:spcPts val="2248"/>
              </a:lnSpc>
              <a:buSzPct val="100000"/>
              <a:buChar char="•"/>
            </a:pPr>
            <a:r>
              <a:rPr lang="en-US" sz="1955" dirty="0">
                <a:solidFill>
                  <a:srgbClr val="CFCBBF"/>
                </a:solidFill>
                <a:latin typeface="Times New Roman" panose="02020603050405020304" pitchFamily="18" charset="0"/>
                <a:cs typeface="Times New Roman" panose="02020603050405020304" pitchFamily="18" charset="0"/>
              </a:rPr>
              <a:t>Handling data cleaning and preparation across multiple data sources.</a:t>
            </a:r>
          </a:p>
        </p:txBody>
      </p:sp>
      <p:sp>
        <p:nvSpPr>
          <p:cNvPr id="16" name="TextBox 15">
            <a:extLst>
              <a:ext uri="{FF2B5EF4-FFF2-40B4-BE49-F238E27FC236}">
                <a16:creationId xmlns:a16="http://schemas.microsoft.com/office/drawing/2014/main" id="{74CA871D-24D8-3E47-CC9B-32969CEBE488}"/>
              </a:ext>
            </a:extLst>
          </p:cNvPr>
          <p:cNvSpPr txBox="1"/>
          <p:nvPr/>
        </p:nvSpPr>
        <p:spPr>
          <a:xfrm>
            <a:off x="11126112" y="1783824"/>
            <a:ext cx="3377926" cy="938719"/>
          </a:xfrm>
          <a:prstGeom prst="rect">
            <a:avLst/>
          </a:prstGeom>
          <a:noFill/>
        </p:spPr>
        <p:txBody>
          <a:bodyPr wrap="square">
            <a:spAutoFit/>
          </a:bodyPr>
          <a:lstStyle/>
          <a:p>
            <a:pPr marL="335219" indent="-335219">
              <a:lnSpc>
                <a:spcPts val="2248"/>
              </a:lnSpc>
              <a:buSzPct val="100000"/>
              <a:buChar char="•"/>
            </a:pPr>
            <a:r>
              <a:rPr lang="en-US" sz="1955" dirty="0">
                <a:solidFill>
                  <a:srgbClr val="CFCBBF"/>
                </a:solidFill>
                <a:latin typeface="Times New Roman" panose="02020603050405020304" pitchFamily="18" charset="0"/>
                <a:cs typeface="Times New Roman" panose="02020603050405020304" pitchFamily="18" charset="0"/>
              </a:rPr>
              <a:t>Mastery of data modeling techniques and DAX calculations</a:t>
            </a:r>
            <a:r>
              <a:rPr lang="en-US" sz="1955" dirty="0">
                <a:solidFill>
                  <a:srgbClr val="CFCBBF"/>
                </a:solidFill>
                <a:latin typeface="Times New Roman" panose="02020603050405020304" pitchFamily="18" charset="0"/>
                <a:ea typeface="Raleway" pitchFamily="34" charset="-122"/>
                <a:cs typeface="Times New Roman" panose="02020603050405020304" pitchFamily="18" charset="0"/>
              </a:rPr>
              <a:t>.</a:t>
            </a:r>
            <a:endParaRPr lang="en-US" sz="1955"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683C8E06-D78F-A37B-1AF0-8D581B7A5965}"/>
              </a:ext>
            </a:extLst>
          </p:cNvPr>
          <p:cNvSpPr txBox="1"/>
          <p:nvPr/>
        </p:nvSpPr>
        <p:spPr>
          <a:xfrm>
            <a:off x="11126112" y="3040770"/>
            <a:ext cx="3679020" cy="692000"/>
          </a:xfrm>
          <a:prstGeom prst="rect">
            <a:avLst/>
          </a:prstGeom>
          <a:noFill/>
        </p:spPr>
        <p:txBody>
          <a:bodyPr wrap="square">
            <a:spAutoFit/>
          </a:bodyPr>
          <a:lstStyle/>
          <a:p>
            <a:pPr marL="279349" indent="-279349">
              <a:buFont typeface="Arial" panose="020B0604020202020204" pitchFamily="34" charset="0"/>
              <a:buChar char="•"/>
            </a:pPr>
            <a:r>
              <a:rPr lang="en-US" sz="1955" dirty="0">
                <a:solidFill>
                  <a:srgbClr val="CFCBBF"/>
                </a:solidFill>
                <a:latin typeface="Times New Roman" panose="02020603050405020304" pitchFamily="18" charset="0"/>
                <a:cs typeface="Times New Roman" panose="02020603050405020304" pitchFamily="18" charset="0"/>
              </a:rPr>
              <a:t>Proficiency in dashboard design for business users</a:t>
            </a:r>
            <a:endParaRPr lang="en-IN" sz="1955"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72E07BC1-4A24-567F-F879-1E8B723188CD}"/>
              </a:ext>
            </a:extLst>
          </p:cNvPr>
          <p:cNvSpPr txBox="1"/>
          <p:nvPr/>
        </p:nvSpPr>
        <p:spPr>
          <a:xfrm>
            <a:off x="11126113" y="4070196"/>
            <a:ext cx="3537883" cy="938719"/>
          </a:xfrm>
          <a:prstGeom prst="rect">
            <a:avLst/>
          </a:prstGeom>
          <a:noFill/>
        </p:spPr>
        <p:txBody>
          <a:bodyPr wrap="square">
            <a:spAutoFit/>
          </a:bodyPr>
          <a:lstStyle/>
          <a:p>
            <a:pPr marL="335219" indent="-335219">
              <a:lnSpc>
                <a:spcPts val="2248"/>
              </a:lnSpc>
              <a:buSzPct val="100000"/>
              <a:buChar char="•"/>
            </a:pPr>
            <a:r>
              <a:rPr lang="en-US" sz="1955" dirty="0">
                <a:solidFill>
                  <a:srgbClr val="CFCBBF"/>
                </a:solidFill>
                <a:latin typeface="Times New Roman" panose="02020603050405020304" pitchFamily="18" charset="0"/>
                <a:cs typeface="Times New Roman" panose="02020603050405020304" pitchFamily="18" charset="0"/>
              </a:rPr>
              <a:t>Understanding how data insights support business decision-making..</a:t>
            </a:r>
          </a:p>
        </p:txBody>
      </p:sp>
      <p:sp>
        <p:nvSpPr>
          <p:cNvPr id="22" name="TextBox 21">
            <a:extLst>
              <a:ext uri="{FF2B5EF4-FFF2-40B4-BE49-F238E27FC236}">
                <a16:creationId xmlns:a16="http://schemas.microsoft.com/office/drawing/2014/main" id="{E0D6B3D5-E96C-FE0D-BC23-1DCEAB903154}"/>
              </a:ext>
            </a:extLst>
          </p:cNvPr>
          <p:cNvSpPr txBox="1"/>
          <p:nvPr/>
        </p:nvSpPr>
        <p:spPr>
          <a:xfrm>
            <a:off x="11126113" y="5576332"/>
            <a:ext cx="3518664" cy="938719"/>
          </a:xfrm>
          <a:prstGeom prst="rect">
            <a:avLst/>
          </a:prstGeom>
          <a:noFill/>
        </p:spPr>
        <p:txBody>
          <a:bodyPr wrap="square">
            <a:spAutoFit/>
          </a:bodyPr>
          <a:lstStyle/>
          <a:p>
            <a:pPr marL="335219" indent="-335219">
              <a:lnSpc>
                <a:spcPts val="2248"/>
              </a:lnSpc>
              <a:buSzPct val="100000"/>
              <a:buChar char="•"/>
            </a:pPr>
            <a:r>
              <a:rPr lang="en-US" sz="1955" dirty="0">
                <a:solidFill>
                  <a:srgbClr val="CFCBBF"/>
                </a:solidFill>
                <a:latin typeface="Times New Roman" panose="02020603050405020304" pitchFamily="18" charset="0"/>
                <a:cs typeface="Times New Roman" panose="02020603050405020304" pitchFamily="18" charset="0"/>
              </a:rPr>
              <a:t>Improved ability to analyze data and present insights in a clear, meaningful way.</a:t>
            </a:r>
          </a:p>
        </p:txBody>
      </p:sp>
      <p:pic>
        <p:nvPicPr>
          <p:cNvPr id="23" name="Picture 22">
            <a:extLst>
              <a:ext uri="{FF2B5EF4-FFF2-40B4-BE49-F238E27FC236}">
                <a16:creationId xmlns:a16="http://schemas.microsoft.com/office/drawing/2014/main" id="{288EA130-CE47-983D-0110-9BF39F1910B5}"/>
              </a:ext>
            </a:extLst>
          </p:cNvPr>
          <p:cNvPicPr>
            <a:picLocks noChangeAspect="1"/>
          </p:cNvPicPr>
          <p:nvPr/>
        </p:nvPicPr>
        <p:blipFill>
          <a:blip r:embed="rId2"/>
          <a:stretch>
            <a:fillRect/>
          </a:stretch>
        </p:blipFill>
        <p:spPr>
          <a:xfrm>
            <a:off x="20654" y="111466"/>
            <a:ext cx="6568148" cy="7772059"/>
          </a:xfrm>
          <a:prstGeom prst="rect">
            <a:avLst/>
          </a:prstGeom>
          <a:solidFill>
            <a:schemeClr val="bg2">
              <a:lumMod val="60000"/>
              <a:lumOff val="40000"/>
            </a:schemeClr>
          </a:solidFill>
        </p:spPr>
      </p:pic>
    </p:spTree>
    <p:extLst>
      <p:ext uri="{BB962C8B-B14F-4D97-AF65-F5344CB8AC3E}">
        <p14:creationId xmlns:p14="http://schemas.microsoft.com/office/powerpoint/2010/main" val="3172353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62F179-649C-9130-AA73-E47D08FE0D05}"/>
              </a:ext>
            </a:extLst>
          </p:cNvPr>
          <p:cNvSpPr txBox="1"/>
          <p:nvPr/>
        </p:nvSpPr>
        <p:spPr>
          <a:xfrm>
            <a:off x="5621818" y="486404"/>
            <a:ext cx="8563246" cy="784830"/>
          </a:xfrm>
          <a:prstGeom prst="rect">
            <a:avLst/>
          </a:prstGeom>
          <a:noFill/>
        </p:spPr>
        <p:txBody>
          <a:bodyPr wrap="square">
            <a:spAutoFit/>
          </a:bodyPr>
          <a:lstStyle/>
          <a:p>
            <a:pPr>
              <a:lnSpc>
                <a:spcPts val="5426"/>
              </a:lnSpc>
            </a:pPr>
            <a:r>
              <a:rPr lang="en-US" sz="4800" dirty="0">
                <a:ln w="12700">
                  <a:noFill/>
                </a:ln>
                <a:gradFill>
                  <a:gsLst>
                    <a:gs pos="0">
                      <a:srgbClr val="B8860B"/>
                    </a:gs>
                    <a:gs pos="35000">
                      <a:srgbClr val="FFD966"/>
                    </a:gs>
                    <a:gs pos="55000">
                      <a:srgbClr val="FFF2CC"/>
                    </a:gs>
                    <a:gs pos="100000">
                      <a:srgbClr val="C9A227"/>
                    </a:gs>
                  </a:gsLst>
                  <a:lin ang="5400000" scaled="1"/>
                </a:gradFill>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730B9C09-9C65-43A1-15C2-EDBB1BBAFBD1}"/>
              </a:ext>
            </a:extLst>
          </p:cNvPr>
          <p:cNvSpPr txBox="1"/>
          <p:nvPr/>
        </p:nvSpPr>
        <p:spPr>
          <a:xfrm>
            <a:off x="923035" y="1737060"/>
            <a:ext cx="14101953" cy="5185522"/>
          </a:xfrm>
          <a:prstGeom prst="rect">
            <a:avLst/>
          </a:prstGeom>
          <a:noFill/>
        </p:spPr>
        <p:txBody>
          <a:bodyPr wrap="square">
            <a:spAutoFit/>
          </a:bodyPr>
          <a:lstStyle/>
          <a:p>
            <a:pPr algn="just">
              <a:lnSpc>
                <a:spcPct val="150000"/>
              </a:lnSpc>
            </a:pPr>
            <a:r>
              <a:rPr lang="en-US" sz="2800" dirty="0">
                <a:solidFill>
                  <a:srgbClr val="CFCBBF"/>
                </a:solidFill>
                <a:latin typeface="Times New Roman" panose="02020603050405020304" pitchFamily="18" charset="0"/>
                <a:cs typeface="Times New Roman" panose="02020603050405020304" pitchFamily="18" charset="0"/>
              </a:rPr>
              <a:t>Overall, the business performance shows that sales and profit are mainly driven by a small number of key products, customers, and regions. The Mountain-200 product series contributes significantly to total sales, indicating strong and consistent demand. Profit is highly concentrated in regions such as the United States and Australia, while a few customers account for a large share of overall profit. At the same time, some regions and segments generate very low or no profit, highlighting areas that need cost control or performance improvement. In summary, the business is doing well, and future growth can be achieved by strengthening high-performing areas and improving weaker ones.</a:t>
            </a:r>
          </a:p>
        </p:txBody>
      </p:sp>
    </p:spTree>
    <p:extLst>
      <p:ext uri="{BB962C8B-B14F-4D97-AF65-F5344CB8AC3E}">
        <p14:creationId xmlns:p14="http://schemas.microsoft.com/office/powerpoint/2010/main" val="2283032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E654E83-5704-6554-DDB7-4A40E541672C}"/>
              </a:ext>
            </a:extLst>
          </p:cNvPr>
          <p:cNvSpPr/>
          <p:nvPr/>
        </p:nvSpPr>
        <p:spPr>
          <a:xfrm>
            <a:off x="5649629" y="2341976"/>
            <a:ext cx="4324350" cy="790575"/>
          </a:xfrm>
          <a:prstGeom prst="rect">
            <a:avLst/>
          </a:prstGeom>
          <a:noFill/>
          <a:ln/>
        </p:spPr>
        <p:txBody>
          <a:bodyPr wrap="none" lIns="0" tIns="0" rIns="0" bIns="0" rtlCol="0" anchor="t"/>
          <a:lstStyle/>
          <a:p>
            <a:pPr>
              <a:lnSpc>
                <a:spcPts val="5550"/>
              </a:lnSpc>
            </a:pPr>
            <a:r>
              <a:rPr lang="en-US" sz="6000" b="1" dirty="0">
                <a:ln w="12700">
                  <a:noFill/>
                </a:ln>
                <a:gradFill>
                  <a:gsLst>
                    <a:gs pos="0">
                      <a:srgbClr val="B8860B"/>
                    </a:gs>
                    <a:gs pos="35000">
                      <a:srgbClr val="FFD966"/>
                    </a:gs>
                    <a:gs pos="55000">
                      <a:srgbClr val="FFF2CC"/>
                    </a:gs>
                    <a:gs pos="100000">
                      <a:srgbClr val="C9A227"/>
                    </a:gs>
                  </a:gsLst>
                  <a:lin ang="5400000" scaled="1"/>
                </a:gradFill>
                <a:latin typeface="Prata" pitchFamily="34" charset="0"/>
              </a:rPr>
              <a:t>Thank You!</a:t>
            </a:r>
          </a:p>
        </p:txBody>
      </p:sp>
      <p:sp>
        <p:nvSpPr>
          <p:cNvPr id="4" name="TextBox 3">
            <a:extLst>
              <a:ext uri="{FF2B5EF4-FFF2-40B4-BE49-F238E27FC236}">
                <a16:creationId xmlns:a16="http://schemas.microsoft.com/office/drawing/2014/main" id="{EBCFC634-80D8-9428-114D-31527DC28723}"/>
              </a:ext>
            </a:extLst>
          </p:cNvPr>
          <p:cNvSpPr txBox="1"/>
          <p:nvPr/>
        </p:nvSpPr>
        <p:spPr>
          <a:xfrm>
            <a:off x="3811271" y="3530958"/>
            <a:ext cx="8325481" cy="1938992"/>
          </a:xfrm>
          <a:prstGeom prst="rect">
            <a:avLst/>
          </a:prstGeom>
          <a:noFill/>
        </p:spPr>
        <p:txBody>
          <a:bodyPr wrap="square">
            <a:spAutoFit/>
          </a:bodyPr>
          <a:lstStyle/>
          <a:p>
            <a:pPr algn="just"/>
            <a:r>
              <a:rPr lang="en-US" sz="2400" dirty="0">
                <a:solidFill>
                  <a:srgbClr val="CFCBBF"/>
                </a:solidFill>
                <a:latin typeface="Raleway" pitchFamily="34" charset="0"/>
              </a:rPr>
              <a:t>We appreciate your time and attention today. We're confident that these data-driven insights will empower Adventure Works to make more informed decisions, optimize operations, and continue its journey of growth and innovation.</a:t>
            </a:r>
          </a:p>
        </p:txBody>
      </p:sp>
    </p:spTree>
    <p:extLst>
      <p:ext uri="{BB962C8B-B14F-4D97-AF65-F5344CB8AC3E}">
        <p14:creationId xmlns:p14="http://schemas.microsoft.com/office/powerpoint/2010/main" val="22736635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{E74A20D2-3A84-4735-B029-56ED0EAB8C89}TFb5ae2469-0bae-4978-b0e0-39dd046150ff9a115ede-a9c3cc5252b0</Template>
  <TotalTime>568</TotalTime>
  <Words>1095</Words>
  <Application>Microsoft Office PowerPoint</Application>
  <PresentationFormat>Custom</PresentationFormat>
  <Paragraphs>108</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Prata</vt:lpstr>
      <vt:lpstr>Arial</vt:lpstr>
      <vt:lpstr>Calibri</vt:lpstr>
      <vt:lpstr>Calibri Light</vt:lpstr>
      <vt:lpstr>Raleway</vt:lpstr>
      <vt:lpstr>Rockwell Extra Bold</vt:lpstr>
      <vt:lpstr>Times New Roman</vt:lpstr>
      <vt:lpstr>Celestial</vt:lpstr>
      <vt:lpstr>ADVENTURE WORKS   project by: KOUSHIK SELVABHARATHI S MADHU R BANGERA MEESALA RENUKA ABDUL RAASHID S G SAI ASHISH</vt:lpstr>
      <vt:lpstr> Agenda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meesalarenuka89@gmail.com</dc:creator>
  <cp:lastModifiedBy>meesalarenuka89@gmail.com</cp:lastModifiedBy>
  <cp:revision>7</cp:revision>
  <dcterms:created xsi:type="dcterms:W3CDTF">2026-01-16T16:44:46Z</dcterms:created>
  <dcterms:modified xsi:type="dcterms:W3CDTF">2026-01-19T10:24:44Z</dcterms:modified>
</cp:coreProperties>
</file>